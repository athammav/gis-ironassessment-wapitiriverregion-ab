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8" r:id="rId4"/>
    <p:sldId id="259" r:id="rId5"/>
    <p:sldId id="260" r:id="rId6"/>
    <p:sldId id="264" r:id="rId7"/>
    <p:sldId id="265" r:id="rId8"/>
    <p:sldId id="263" r:id="rId9"/>
    <p:sldId id="262"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7E8303-000B-DA65-BD93-2D391B1FACB9}" v="1819" dt="2025-12-19T02:15:38.156"/>
    <p1510:client id="{16032CE1-1955-856E-46F1-FC6046098D8D}" v="930" dt="2025-12-18T23:18:52.615"/>
    <p1510:client id="{4F2E60D6-EC28-EBE3-A905-CBFD5DC56891}" v="21" dt="2025-12-18T21:40:07.065"/>
    <p1510:client id="{A4356916-3DD2-2BDB-1C57-12C8AC06B5FE}" v="130" dt="2025-12-18T03:31:40.4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73B2D5-04FB-496E-ACEB-B5015224DF3B}"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13D56561-2FD3-4E48-A690-338133204B8B}">
      <dgm:prSet/>
      <dgm:spPr/>
      <dgm:t>
        <a:bodyPr/>
        <a:lstStyle/>
        <a:p>
          <a:pPr>
            <a:lnSpc>
              <a:spcPct val="100000"/>
            </a:lnSpc>
            <a:defRPr cap="all"/>
          </a:pPr>
          <a:r>
            <a:rPr lang="en-US" b="1"/>
            <a:t>Iron levels exceeded 0.3 mg/L in major regions</a:t>
          </a:r>
        </a:p>
      </dgm:t>
    </dgm:pt>
    <dgm:pt modelId="{9AC0AECB-E0A0-41FE-81E8-10A7F03A174C}" type="parTrans" cxnId="{9056252C-62EF-4FE4-B290-F433256DADCC}">
      <dgm:prSet/>
      <dgm:spPr/>
      <dgm:t>
        <a:bodyPr/>
        <a:lstStyle/>
        <a:p>
          <a:endParaRPr lang="en-US"/>
        </a:p>
      </dgm:t>
    </dgm:pt>
    <dgm:pt modelId="{10E41D3E-AA09-4E69-8D21-9E64AF70424A}" type="sibTrans" cxnId="{9056252C-62EF-4FE4-B290-F433256DADCC}">
      <dgm:prSet/>
      <dgm:spPr/>
      <dgm:t>
        <a:bodyPr/>
        <a:lstStyle/>
        <a:p>
          <a:endParaRPr lang="en-US"/>
        </a:p>
      </dgm:t>
    </dgm:pt>
    <dgm:pt modelId="{8DD60C72-1F30-4318-83F5-9D4F929857F3}">
      <dgm:prSet/>
      <dgm:spPr/>
      <dgm:t>
        <a:bodyPr/>
        <a:lstStyle/>
        <a:p>
          <a:pPr>
            <a:lnSpc>
              <a:spcPct val="100000"/>
            </a:lnSpc>
            <a:defRPr cap="all"/>
          </a:pPr>
          <a:r>
            <a:rPr lang="en-US" b="1"/>
            <a:t>Persistent land-use leads to influx in </a:t>
          </a:r>
          <a:r>
            <a:rPr lang="en-US" b="1">
              <a:latin typeface="Aptos Display" panose="020F0302020204030204"/>
            </a:rPr>
            <a:t>Iron</a:t>
          </a:r>
          <a:r>
            <a:rPr lang="en-US" b="1"/>
            <a:t> concentrations</a:t>
          </a:r>
        </a:p>
      </dgm:t>
    </dgm:pt>
    <dgm:pt modelId="{C103421A-0747-4FAB-BB14-B5406CAC59C5}" type="parTrans" cxnId="{063BC1D2-A628-4BF5-90AD-C307BAA212C5}">
      <dgm:prSet/>
      <dgm:spPr/>
      <dgm:t>
        <a:bodyPr/>
        <a:lstStyle/>
        <a:p>
          <a:endParaRPr lang="en-US"/>
        </a:p>
      </dgm:t>
    </dgm:pt>
    <dgm:pt modelId="{C2B7981D-638D-4BE3-8CE6-0B010DE6B549}" type="sibTrans" cxnId="{063BC1D2-A628-4BF5-90AD-C307BAA212C5}">
      <dgm:prSet/>
      <dgm:spPr/>
      <dgm:t>
        <a:bodyPr/>
        <a:lstStyle/>
        <a:p>
          <a:endParaRPr lang="en-US"/>
        </a:p>
      </dgm:t>
    </dgm:pt>
    <dgm:pt modelId="{0CF49CF6-B2CC-4F5D-9379-0C93CFFB7617}" type="pres">
      <dgm:prSet presAssocID="{9273B2D5-04FB-496E-ACEB-B5015224DF3B}" presName="root" presStyleCnt="0">
        <dgm:presLayoutVars>
          <dgm:dir/>
          <dgm:resizeHandles val="exact"/>
        </dgm:presLayoutVars>
      </dgm:prSet>
      <dgm:spPr/>
    </dgm:pt>
    <dgm:pt modelId="{A84B7B84-BAD3-4506-B2BE-F3AC24444F0B}" type="pres">
      <dgm:prSet presAssocID="{13D56561-2FD3-4E48-A690-338133204B8B}" presName="compNode" presStyleCnt="0"/>
      <dgm:spPr/>
    </dgm:pt>
    <dgm:pt modelId="{2363287C-F471-438D-A6BC-0BC6CE5CB741}" type="pres">
      <dgm:prSet presAssocID="{13D56561-2FD3-4E48-A690-338133204B8B}" presName="iconBgRect" presStyleLbl="bgShp" presStyleIdx="0" presStyleCnt="2"/>
      <dgm:spPr/>
    </dgm:pt>
    <dgm:pt modelId="{904A20DC-7B72-455E-A9CA-116B82869029}" type="pres">
      <dgm:prSet presAssocID="{13D56561-2FD3-4E48-A690-338133204B8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Eye dropper"/>
        </a:ext>
      </dgm:extLst>
    </dgm:pt>
    <dgm:pt modelId="{5441511E-0935-425F-83A4-89C9DEB1F753}" type="pres">
      <dgm:prSet presAssocID="{13D56561-2FD3-4E48-A690-338133204B8B}" presName="spaceRect" presStyleCnt="0"/>
      <dgm:spPr/>
    </dgm:pt>
    <dgm:pt modelId="{6DA4B5C5-9B38-4CD1-8E53-7304EE09002D}" type="pres">
      <dgm:prSet presAssocID="{13D56561-2FD3-4E48-A690-338133204B8B}" presName="textRect" presStyleLbl="revTx" presStyleIdx="0" presStyleCnt="2">
        <dgm:presLayoutVars>
          <dgm:chMax val="1"/>
          <dgm:chPref val="1"/>
        </dgm:presLayoutVars>
      </dgm:prSet>
      <dgm:spPr/>
    </dgm:pt>
    <dgm:pt modelId="{C50C9027-02B4-45E3-BB7B-C750A164CD7D}" type="pres">
      <dgm:prSet presAssocID="{10E41D3E-AA09-4E69-8D21-9E64AF70424A}" presName="sibTrans" presStyleCnt="0"/>
      <dgm:spPr/>
    </dgm:pt>
    <dgm:pt modelId="{22BFE3DF-2153-43D2-BE79-D05413399006}" type="pres">
      <dgm:prSet presAssocID="{8DD60C72-1F30-4318-83F5-9D4F929857F3}" presName="compNode" presStyleCnt="0"/>
      <dgm:spPr/>
    </dgm:pt>
    <dgm:pt modelId="{41EF5668-85AC-42E8-8270-E6F1321C16BF}" type="pres">
      <dgm:prSet presAssocID="{8DD60C72-1F30-4318-83F5-9D4F929857F3}" presName="iconBgRect" presStyleLbl="bgShp" presStyleIdx="1" presStyleCnt="2"/>
      <dgm:spPr/>
    </dgm:pt>
    <dgm:pt modelId="{8C0BF476-4B45-462D-B360-C99C174DE1EC}" type="pres">
      <dgm:prSet presAssocID="{8DD60C72-1F30-4318-83F5-9D4F929857F3}"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hoe footprints with solid fill"/>
        </a:ext>
      </dgm:extLst>
    </dgm:pt>
    <dgm:pt modelId="{7C2FE249-4F9E-4B5F-8D7C-0327BDBFFB3A}" type="pres">
      <dgm:prSet presAssocID="{8DD60C72-1F30-4318-83F5-9D4F929857F3}" presName="spaceRect" presStyleCnt="0"/>
      <dgm:spPr/>
    </dgm:pt>
    <dgm:pt modelId="{50FCD764-7313-4631-A118-CA3C3CBFF9F4}" type="pres">
      <dgm:prSet presAssocID="{8DD60C72-1F30-4318-83F5-9D4F929857F3}" presName="textRect" presStyleLbl="revTx" presStyleIdx="1" presStyleCnt="2">
        <dgm:presLayoutVars>
          <dgm:chMax val="1"/>
          <dgm:chPref val="1"/>
        </dgm:presLayoutVars>
      </dgm:prSet>
      <dgm:spPr/>
    </dgm:pt>
  </dgm:ptLst>
  <dgm:cxnLst>
    <dgm:cxn modelId="{D0C66624-662D-488D-A873-84A31881C208}" type="presOf" srcId="{9273B2D5-04FB-496E-ACEB-B5015224DF3B}" destId="{0CF49CF6-B2CC-4F5D-9379-0C93CFFB7617}" srcOrd="0" destOrd="0" presId="urn:microsoft.com/office/officeart/2018/5/layout/IconCircleLabelList"/>
    <dgm:cxn modelId="{9056252C-62EF-4FE4-B290-F433256DADCC}" srcId="{9273B2D5-04FB-496E-ACEB-B5015224DF3B}" destId="{13D56561-2FD3-4E48-A690-338133204B8B}" srcOrd="0" destOrd="0" parTransId="{9AC0AECB-E0A0-41FE-81E8-10A7F03A174C}" sibTransId="{10E41D3E-AA09-4E69-8D21-9E64AF70424A}"/>
    <dgm:cxn modelId="{CFEA4580-41EF-4A18-9AAB-E89FC6B8CD8D}" type="presOf" srcId="{13D56561-2FD3-4E48-A690-338133204B8B}" destId="{6DA4B5C5-9B38-4CD1-8E53-7304EE09002D}" srcOrd="0" destOrd="0" presId="urn:microsoft.com/office/officeart/2018/5/layout/IconCircleLabelList"/>
    <dgm:cxn modelId="{5B2E88A7-D745-41F6-8FC0-8C82A9EB341A}" type="presOf" srcId="{8DD60C72-1F30-4318-83F5-9D4F929857F3}" destId="{50FCD764-7313-4631-A118-CA3C3CBFF9F4}" srcOrd="0" destOrd="0" presId="urn:microsoft.com/office/officeart/2018/5/layout/IconCircleLabelList"/>
    <dgm:cxn modelId="{063BC1D2-A628-4BF5-90AD-C307BAA212C5}" srcId="{9273B2D5-04FB-496E-ACEB-B5015224DF3B}" destId="{8DD60C72-1F30-4318-83F5-9D4F929857F3}" srcOrd="1" destOrd="0" parTransId="{C103421A-0747-4FAB-BB14-B5406CAC59C5}" sibTransId="{C2B7981D-638D-4BE3-8CE6-0B010DE6B549}"/>
    <dgm:cxn modelId="{CE9273E4-5F2A-4C04-B675-98FC775C3DB6}" type="presParOf" srcId="{0CF49CF6-B2CC-4F5D-9379-0C93CFFB7617}" destId="{A84B7B84-BAD3-4506-B2BE-F3AC24444F0B}" srcOrd="0" destOrd="0" presId="urn:microsoft.com/office/officeart/2018/5/layout/IconCircleLabelList"/>
    <dgm:cxn modelId="{C99FA6B8-11B3-435E-A548-EAD6D0A33292}" type="presParOf" srcId="{A84B7B84-BAD3-4506-B2BE-F3AC24444F0B}" destId="{2363287C-F471-438D-A6BC-0BC6CE5CB741}" srcOrd="0" destOrd="0" presId="urn:microsoft.com/office/officeart/2018/5/layout/IconCircleLabelList"/>
    <dgm:cxn modelId="{6BAFA8AA-C2EB-4207-BDBB-29894DC5CD48}" type="presParOf" srcId="{A84B7B84-BAD3-4506-B2BE-F3AC24444F0B}" destId="{904A20DC-7B72-455E-A9CA-116B82869029}" srcOrd="1" destOrd="0" presId="urn:microsoft.com/office/officeart/2018/5/layout/IconCircleLabelList"/>
    <dgm:cxn modelId="{B2CB2986-303F-4CF3-9A5E-E5132F6C6BC3}" type="presParOf" srcId="{A84B7B84-BAD3-4506-B2BE-F3AC24444F0B}" destId="{5441511E-0935-425F-83A4-89C9DEB1F753}" srcOrd="2" destOrd="0" presId="urn:microsoft.com/office/officeart/2018/5/layout/IconCircleLabelList"/>
    <dgm:cxn modelId="{ED5E80CE-ED2E-4A37-B7CD-740D4AB13468}" type="presParOf" srcId="{A84B7B84-BAD3-4506-B2BE-F3AC24444F0B}" destId="{6DA4B5C5-9B38-4CD1-8E53-7304EE09002D}" srcOrd="3" destOrd="0" presId="urn:microsoft.com/office/officeart/2018/5/layout/IconCircleLabelList"/>
    <dgm:cxn modelId="{950EEDB0-A017-4D51-992E-9E25E0188374}" type="presParOf" srcId="{0CF49CF6-B2CC-4F5D-9379-0C93CFFB7617}" destId="{C50C9027-02B4-45E3-BB7B-C750A164CD7D}" srcOrd="1" destOrd="0" presId="urn:microsoft.com/office/officeart/2018/5/layout/IconCircleLabelList"/>
    <dgm:cxn modelId="{BADD6040-A98D-499F-9F69-FC768C592E48}" type="presParOf" srcId="{0CF49CF6-B2CC-4F5D-9379-0C93CFFB7617}" destId="{22BFE3DF-2153-43D2-BE79-D05413399006}" srcOrd="2" destOrd="0" presId="urn:microsoft.com/office/officeart/2018/5/layout/IconCircleLabelList"/>
    <dgm:cxn modelId="{1D5B4421-94A1-4DB8-8CC1-402D69AEC122}" type="presParOf" srcId="{22BFE3DF-2153-43D2-BE79-D05413399006}" destId="{41EF5668-85AC-42E8-8270-E6F1321C16BF}" srcOrd="0" destOrd="0" presId="urn:microsoft.com/office/officeart/2018/5/layout/IconCircleLabelList"/>
    <dgm:cxn modelId="{9AB8301C-CAE8-481B-9B01-A9D41E8A9572}" type="presParOf" srcId="{22BFE3DF-2153-43D2-BE79-D05413399006}" destId="{8C0BF476-4B45-462D-B360-C99C174DE1EC}" srcOrd="1" destOrd="0" presId="urn:microsoft.com/office/officeart/2018/5/layout/IconCircleLabelList"/>
    <dgm:cxn modelId="{ADD1EDD6-7ACA-4E26-B64C-DADECC2D3C0A}" type="presParOf" srcId="{22BFE3DF-2153-43D2-BE79-D05413399006}" destId="{7C2FE249-4F9E-4B5F-8D7C-0327BDBFFB3A}" srcOrd="2" destOrd="0" presId="urn:microsoft.com/office/officeart/2018/5/layout/IconCircleLabelList"/>
    <dgm:cxn modelId="{0C4919B6-27C0-4304-8589-7890A40179CF}" type="presParOf" srcId="{22BFE3DF-2153-43D2-BE79-D05413399006}" destId="{50FCD764-7313-4631-A118-CA3C3CBFF9F4}"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63287C-F471-438D-A6BC-0BC6CE5CB741}">
      <dsp:nvSpPr>
        <dsp:cNvPr id="0" name=""/>
        <dsp:cNvSpPr/>
      </dsp:nvSpPr>
      <dsp:spPr>
        <a:xfrm>
          <a:off x="2044800" y="375668"/>
          <a:ext cx="2196000" cy="2196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4A20DC-7B72-455E-A9CA-116B82869029}">
      <dsp:nvSpPr>
        <dsp:cNvPr id="0" name=""/>
        <dsp:cNvSpPr/>
      </dsp:nvSpPr>
      <dsp:spPr>
        <a:xfrm>
          <a:off x="2512800" y="843669"/>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A4B5C5-9B38-4CD1-8E53-7304EE09002D}">
      <dsp:nvSpPr>
        <dsp:cNvPr id="0" name=""/>
        <dsp:cNvSpPr/>
      </dsp:nvSpPr>
      <dsp:spPr>
        <a:xfrm>
          <a:off x="134280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b="1" kern="1200"/>
            <a:t>Iron levels exceeded 0.3 mg/L in major regions</a:t>
          </a:r>
        </a:p>
      </dsp:txBody>
      <dsp:txXfrm>
        <a:off x="1342800" y="3255669"/>
        <a:ext cx="3600000" cy="720000"/>
      </dsp:txXfrm>
    </dsp:sp>
    <dsp:sp modelId="{41EF5668-85AC-42E8-8270-E6F1321C16BF}">
      <dsp:nvSpPr>
        <dsp:cNvPr id="0" name=""/>
        <dsp:cNvSpPr/>
      </dsp:nvSpPr>
      <dsp:spPr>
        <a:xfrm>
          <a:off x="6274800" y="375668"/>
          <a:ext cx="2196000" cy="2196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0BF476-4B45-462D-B360-C99C174DE1EC}">
      <dsp:nvSpPr>
        <dsp:cNvPr id="0" name=""/>
        <dsp:cNvSpPr/>
      </dsp:nvSpPr>
      <dsp:spPr>
        <a:xfrm>
          <a:off x="6742800" y="843669"/>
          <a:ext cx="1260000" cy="126000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FCD764-7313-4631-A118-CA3C3CBFF9F4}">
      <dsp:nvSpPr>
        <dsp:cNvPr id="0" name=""/>
        <dsp:cNvSpPr/>
      </dsp:nvSpPr>
      <dsp:spPr>
        <a:xfrm>
          <a:off x="557280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b="1" kern="1200"/>
            <a:t>Persistent land-use leads to influx in </a:t>
          </a:r>
          <a:r>
            <a:rPr lang="en-US" sz="1700" b="1" kern="1200">
              <a:latin typeface="Aptos Display" panose="020F0302020204030204"/>
            </a:rPr>
            <a:t>Iron</a:t>
          </a:r>
          <a:r>
            <a:rPr lang="en-US" sz="1700" b="1" kern="1200"/>
            <a:t> concentrations</a:t>
          </a:r>
        </a:p>
      </dsp:txBody>
      <dsp:txXfrm>
        <a:off x="5572800" y="3255669"/>
        <a:ext cx="360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E72FDC-9665-42E6-A2EC-0715C890DF3C}" type="datetimeFigureOut">
              <a:t>12/18/2025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8F22B5-5394-4532-98B4-8836FE949249}" type="slidenum">
              <a:t>‹#›</a:t>
            </a:fld>
            <a:endParaRPr lang="en-US"/>
          </a:p>
        </p:txBody>
      </p:sp>
    </p:spTree>
    <p:extLst>
      <p:ext uri="{BB962C8B-B14F-4D97-AF65-F5344CB8AC3E}">
        <p14:creationId xmlns:p14="http://schemas.microsoft.com/office/powerpoint/2010/main" val="2422919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 Wapiti River region in Alberta, Canada is of interest to the project today due to its importance in being a source of drinking water and its commercial land use. </a:t>
            </a:r>
            <a:endParaRPr lang="en-US" dirty="0">
              <a:ea typeface="Calibri"/>
              <a:cs typeface="Calibri"/>
            </a:endParaRPr>
          </a:p>
          <a:p>
            <a:endParaRPr lang="en-US" dirty="0">
              <a:ea typeface="Calibri"/>
              <a:cs typeface="Calibri"/>
            </a:endParaRPr>
          </a:p>
          <a:p>
            <a:r>
              <a:rPr lang="en-US" dirty="0">
                <a:ea typeface="Calibri"/>
                <a:cs typeface="Calibri"/>
              </a:rPr>
              <a:t>The area of interest is in mid-southern Alberta, which lies on various types of bedrock, which can partially contribute to the flux of total dissolved solids (TDS). However, the main source of contamination and the flux of TDS has come from commercial activities including mining and agricultural uses nearby. </a:t>
            </a:r>
          </a:p>
          <a:p>
            <a:endParaRPr lang="en-US" dirty="0">
              <a:ea typeface="Calibri"/>
              <a:cs typeface="Calibri"/>
            </a:endParaRPr>
          </a:p>
          <a:p>
            <a:r>
              <a:rPr lang="en-US" dirty="0">
                <a:ea typeface="Calibri"/>
                <a:cs typeface="Calibri"/>
              </a:rPr>
              <a:t>The ultimate goal of this project is to identify the areas of the Wapiti River region containing unsuitable iron concentrations (&gt;0.3 mg/L). </a:t>
            </a:r>
          </a:p>
        </p:txBody>
      </p:sp>
      <p:sp>
        <p:nvSpPr>
          <p:cNvPr id="4" name="Slide Number Placeholder 3"/>
          <p:cNvSpPr>
            <a:spLocks noGrp="1"/>
          </p:cNvSpPr>
          <p:nvPr>
            <p:ph type="sldNum" sz="quarter" idx="5"/>
          </p:nvPr>
        </p:nvSpPr>
        <p:spPr/>
        <p:txBody>
          <a:bodyPr/>
          <a:lstStyle/>
          <a:p>
            <a:fld id="{AD8F22B5-5394-4532-98B4-8836FE949249}" type="slidenum">
              <a:t>2</a:t>
            </a:fld>
            <a:endParaRPr lang="en-US"/>
          </a:p>
        </p:txBody>
      </p:sp>
    </p:spTree>
    <p:extLst>
      <p:ext uri="{BB962C8B-B14F-4D97-AF65-F5344CB8AC3E}">
        <p14:creationId xmlns:p14="http://schemas.microsoft.com/office/powerpoint/2010/main" val="1170734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All data used for the project has come from The Alberta Geologic Survey. Two data sets were used, TDS and bedrock regions of </a:t>
            </a:r>
            <a:r>
              <a:rPr lang="en-US">
                <a:ea typeface="Calibri"/>
                <a:cs typeface="Calibri"/>
              </a:rPr>
              <a:t>Alberta. </a:t>
            </a:r>
          </a:p>
          <a:p>
            <a:endParaRPr lang="en-US" dirty="0">
              <a:ea typeface="Calibri"/>
              <a:cs typeface="Calibri"/>
            </a:endParaRPr>
          </a:p>
          <a:p>
            <a:r>
              <a:rPr lang="en-US">
                <a:ea typeface="Calibri"/>
                <a:cs typeface="Calibri"/>
              </a:rPr>
              <a:t>I wanted to use the bedrock geology in terms of its confounding factors that contribute into the particulate loading of wells. </a:t>
            </a: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D8F22B5-5394-4532-98B4-8836FE949249}" type="slidenum">
              <a:t>3</a:t>
            </a:fld>
            <a:endParaRPr lang="en-US"/>
          </a:p>
        </p:txBody>
      </p:sp>
    </p:spTree>
    <p:extLst>
      <p:ext uri="{BB962C8B-B14F-4D97-AF65-F5344CB8AC3E}">
        <p14:creationId xmlns:p14="http://schemas.microsoft.com/office/powerpoint/2010/main" val="2393580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The general flow of this project was to first identify the samples that were going to be used and then join them spatially. </a:t>
            </a:r>
            <a:endParaRPr lang="en-US"/>
          </a:p>
          <a:p>
            <a:r>
              <a:rPr lang="en-US" dirty="0">
                <a:ea typeface="Calibri"/>
                <a:cs typeface="Calibri"/>
              </a:rPr>
              <a:t>Then I wanted to identify the spatial trends from the Iron concentration data by conducting a histogram plot. </a:t>
            </a:r>
          </a:p>
          <a:p>
            <a:r>
              <a:rPr lang="en-US" dirty="0">
                <a:ea typeface="Calibri"/>
                <a:cs typeface="Calibri"/>
              </a:rPr>
              <a:t>A Thiessen polygon was then created in order to identify the regions of interest specifically towards iron concentrations. </a:t>
            </a:r>
          </a:p>
          <a:p>
            <a:r>
              <a:rPr lang="en-US">
                <a:ea typeface="Calibri"/>
                <a:cs typeface="Calibri"/>
              </a:rPr>
              <a:t>Interpolation was then conducted. Both IDW and Kriging were used as interpolation methods in this project.</a:t>
            </a:r>
            <a:endParaRPr lang="en-US" dirty="0">
              <a:ea typeface="Calibri"/>
              <a:cs typeface="Calibri"/>
            </a:endParaRPr>
          </a:p>
          <a:p>
            <a:r>
              <a:rPr lang="en-US" dirty="0">
                <a:ea typeface="Calibri"/>
                <a:cs typeface="Calibri"/>
              </a:rPr>
              <a:t>Following the ordinary Kriging interpolation, standard errors predic</a:t>
            </a:r>
            <a:r>
              <a:rPr lang="en-US">
                <a:ea typeface="Calibri"/>
                <a:cs typeface="Calibri"/>
              </a:rPr>
              <a:t>tions were made by conducting an Empirical Bayesian Kriging interpolation.</a:t>
            </a:r>
            <a:endParaRPr lang="en-US" dirty="0">
              <a:ea typeface="Calibri"/>
              <a:cs typeface="Calibri"/>
            </a:endParaRPr>
          </a:p>
          <a:p>
            <a:r>
              <a:rPr lang="en-US" dirty="0">
                <a:ea typeface="Calibri"/>
                <a:cs typeface="Calibri"/>
              </a:rPr>
              <a:t>Lastly, a raster calculator was done in order to identify areas that exceeded the Fe concentration </a:t>
            </a:r>
            <a:r>
              <a:rPr lang="en-US" dirty="0" err="1">
                <a:ea typeface="Calibri"/>
                <a:cs typeface="Calibri"/>
              </a:rPr>
              <a:t>thre</a:t>
            </a:r>
            <a:r>
              <a:rPr lang="en-US" dirty="0">
                <a:ea typeface="Calibri"/>
                <a:cs typeface="Calibri"/>
              </a:rPr>
              <a:t>shold (0.3 mg/L)</a:t>
            </a: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D8F22B5-5394-4532-98B4-8836FE949249}" type="slidenum">
              <a:t>4</a:t>
            </a:fld>
            <a:endParaRPr lang="en-US"/>
          </a:p>
        </p:txBody>
      </p:sp>
    </p:spTree>
    <p:extLst>
      <p:ext uri="{BB962C8B-B14F-4D97-AF65-F5344CB8AC3E}">
        <p14:creationId xmlns:p14="http://schemas.microsoft.com/office/powerpoint/2010/main" val="2850502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A histogram plot was built in order to validate spatial trends in Iron concentrations. The plot was log-transformed and presented a normal distribution in data.</a:t>
            </a:r>
            <a:endParaRPr lang="en-US" dirty="0"/>
          </a:p>
          <a:p>
            <a:r>
              <a:rPr lang="en-US" dirty="0">
                <a:ea typeface="Calibri" panose="020F0502020204030204"/>
                <a:cs typeface="Calibri" panose="020F0502020204030204"/>
              </a:rPr>
              <a:t>Then, a </a:t>
            </a:r>
            <a:r>
              <a:rPr lang="en-US" dirty="0" err="1">
                <a:ea typeface="Calibri" panose="020F0502020204030204"/>
                <a:cs typeface="Calibri" panose="020F0502020204030204"/>
              </a:rPr>
              <a:t>thiessen</a:t>
            </a:r>
            <a:r>
              <a:rPr lang="en-US" dirty="0">
                <a:ea typeface="Calibri" panose="020F0502020204030204"/>
                <a:cs typeface="Calibri" panose="020F0502020204030204"/>
              </a:rPr>
              <a:t> polygon was created to identify and confirm the regions of interest (Iron concentration)</a:t>
            </a:r>
          </a:p>
          <a:p>
            <a:endParaRPr lang="en-US" dirty="0"/>
          </a:p>
          <a:p>
            <a:endParaRPr lang="en-US">
              <a:solidFill>
                <a:srgbClr val="444444"/>
              </a:solidFill>
              <a:ea typeface="Calibri"/>
              <a:cs typeface="Calibri"/>
            </a:endParaRPr>
          </a:p>
        </p:txBody>
      </p:sp>
      <p:sp>
        <p:nvSpPr>
          <p:cNvPr id="4" name="Slide Number Placeholder 3"/>
          <p:cNvSpPr>
            <a:spLocks noGrp="1"/>
          </p:cNvSpPr>
          <p:nvPr>
            <p:ph type="sldNum" sz="quarter" idx="5"/>
          </p:nvPr>
        </p:nvSpPr>
        <p:spPr/>
        <p:txBody>
          <a:bodyPr/>
          <a:lstStyle/>
          <a:p>
            <a:fld id="{AD8F22B5-5394-4532-98B4-8836FE949249}" type="slidenum">
              <a:t>5</a:t>
            </a:fld>
            <a:endParaRPr lang="en-US"/>
          </a:p>
        </p:txBody>
      </p:sp>
    </p:spTree>
    <p:extLst>
      <p:ext uri="{BB962C8B-B14F-4D97-AF65-F5344CB8AC3E}">
        <p14:creationId xmlns:p14="http://schemas.microsoft.com/office/powerpoint/2010/main" val="970473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Both Inverse distance weighting and Ordinary Kriging were conducted in order to yield an overall comparison of interpolation patterns.</a:t>
            </a:r>
          </a:p>
          <a:p>
            <a:endParaRPr lang="en-US" dirty="0">
              <a:ea typeface="Calibri"/>
              <a:cs typeface="Calibri"/>
            </a:endParaRPr>
          </a:p>
          <a:p>
            <a:r>
              <a:rPr lang="en-US">
                <a:ea typeface="Calibri"/>
                <a:cs typeface="Calibri"/>
              </a:rPr>
              <a:t>Based on the visual data, we can see that IDW gives a broad overall picture, however it may be too broad to inference the data here.</a:t>
            </a:r>
            <a:endParaRPr lang="en-US" dirty="0">
              <a:ea typeface="Calibri"/>
              <a:cs typeface="Calibri"/>
            </a:endParaRPr>
          </a:p>
          <a:p>
            <a:endParaRPr lang="en-US" dirty="0">
              <a:ea typeface="Calibri"/>
              <a:cs typeface="Calibri"/>
            </a:endParaRPr>
          </a:p>
          <a:p>
            <a:r>
              <a:rPr lang="en-US" dirty="0">
                <a:ea typeface="Calibri"/>
                <a:cs typeface="Calibri"/>
              </a:rPr>
              <a:t>Ordinary Kriging however shows a large interpolation area, and by the given overall normal distribution from the histogram on the previous slide, this is the preferred method ongoing in this project. </a:t>
            </a:r>
          </a:p>
        </p:txBody>
      </p:sp>
      <p:sp>
        <p:nvSpPr>
          <p:cNvPr id="4" name="Slide Number Placeholder 3"/>
          <p:cNvSpPr>
            <a:spLocks noGrp="1"/>
          </p:cNvSpPr>
          <p:nvPr>
            <p:ph type="sldNum" sz="quarter" idx="5"/>
          </p:nvPr>
        </p:nvSpPr>
        <p:spPr/>
        <p:txBody>
          <a:bodyPr/>
          <a:lstStyle/>
          <a:p>
            <a:fld id="{AD8F22B5-5394-4532-98B4-8836FE949249}" type="slidenum">
              <a:t>6</a:t>
            </a:fld>
            <a:endParaRPr lang="en-US"/>
          </a:p>
        </p:txBody>
      </p:sp>
    </p:spTree>
    <p:extLst>
      <p:ext uri="{BB962C8B-B14F-4D97-AF65-F5344CB8AC3E}">
        <p14:creationId xmlns:p14="http://schemas.microsoft.com/office/powerpoint/2010/main" val="2717261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Further analysis is done through Bayesian Empirical Kriging. This is done in order to account for uncertainty within the data and gives a more in depth look into the interpolation analysis.</a:t>
            </a:r>
            <a:endParaRPr lang="en-US" dirty="0"/>
          </a:p>
          <a:p>
            <a:endParaRPr lang="en-US" dirty="0">
              <a:ea typeface="Calibri"/>
              <a:cs typeface="Calibri"/>
            </a:endParaRPr>
          </a:p>
          <a:p>
            <a:r>
              <a:rPr lang="en-US" dirty="0">
                <a:ea typeface="Calibri"/>
                <a:cs typeface="Calibri"/>
              </a:rPr>
              <a:t>Comparing the Ordinary Kriging and Bayesian </a:t>
            </a:r>
            <a:r>
              <a:rPr lang="en-US" dirty="0" err="1">
                <a:ea typeface="Calibri"/>
                <a:cs typeface="Calibri"/>
              </a:rPr>
              <a:t>Emprical</a:t>
            </a:r>
            <a:r>
              <a:rPr lang="en-US" dirty="0">
                <a:ea typeface="Calibri"/>
                <a:cs typeface="Calibri"/>
              </a:rPr>
              <a:t> Kriging, we can identify trends in the </a:t>
            </a:r>
            <a:r>
              <a:rPr lang="en-US" dirty="0" err="1">
                <a:ea typeface="Calibri"/>
                <a:cs typeface="Calibri"/>
              </a:rPr>
              <a:t>Empircal</a:t>
            </a:r>
            <a:r>
              <a:rPr lang="en-US" dirty="0">
                <a:ea typeface="Calibri"/>
                <a:cs typeface="Calibri"/>
              </a:rPr>
              <a:t> Kriging that was not identified in Ordinary Kriging. We can identify clear regions in the west and northern areas of Wapiti river region with the most significant Iron concentrations. </a:t>
            </a:r>
          </a:p>
          <a:p>
            <a:r>
              <a:rPr lang="en-US" dirty="0">
                <a:ea typeface="Calibri"/>
                <a:cs typeface="Calibri"/>
              </a:rPr>
              <a:t> </a:t>
            </a:r>
            <a:endParaRPr lang="en-US"/>
          </a:p>
        </p:txBody>
      </p:sp>
      <p:sp>
        <p:nvSpPr>
          <p:cNvPr id="4" name="Slide Number Placeholder 3"/>
          <p:cNvSpPr>
            <a:spLocks noGrp="1"/>
          </p:cNvSpPr>
          <p:nvPr>
            <p:ph type="sldNum" sz="quarter" idx="5"/>
          </p:nvPr>
        </p:nvSpPr>
        <p:spPr/>
        <p:txBody>
          <a:bodyPr/>
          <a:lstStyle/>
          <a:p>
            <a:fld id="{AD8F22B5-5394-4532-98B4-8836FE949249}" type="slidenum">
              <a:t>7</a:t>
            </a:fld>
            <a:endParaRPr lang="en-US"/>
          </a:p>
        </p:txBody>
      </p:sp>
    </p:spTree>
    <p:extLst>
      <p:ext uri="{BB962C8B-B14F-4D97-AF65-F5344CB8AC3E}">
        <p14:creationId xmlns:p14="http://schemas.microsoft.com/office/powerpoint/2010/main" val="2602978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Lastly, a raster calculator is done to identify regions that exceed the Fe concentration limit of 0.3 mg/L, which is a value derived from the Government of Alberta for drinking water quality use. Likely from the Bayesian Empirical Kriging model, the raster calculator shows the same trend in regions that present areas that have exceeded the limit. </a:t>
            </a:r>
          </a:p>
        </p:txBody>
      </p:sp>
      <p:sp>
        <p:nvSpPr>
          <p:cNvPr id="4" name="Slide Number Placeholder 3"/>
          <p:cNvSpPr>
            <a:spLocks noGrp="1"/>
          </p:cNvSpPr>
          <p:nvPr>
            <p:ph type="sldNum" sz="quarter" idx="5"/>
          </p:nvPr>
        </p:nvSpPr>
        <p:spPr/>
        <p:txBody>
          <a:bodyPr/>
          <a:lstStyle/>
          <a:p>
            <a:fld id="{AD8F22B5-5394-4532-98B4-8836FE949249}" type="slidenum">
              <a:t>8</a:t>
            </a:fld>
            <a:endParaRPr lang="en-US"/>
          </a:p>
        </p:txBody>
      </p:sp>
    </p:spTree>
    <p:extLst>
      <p:ext uri="{BB962C8B-B14F-4D97-AF65-F5344CB8AC3E}">
        <p14:creationId xmlns:p14="http://schemas.microsoft.com/office/powerpoint/2010/main" val="1605348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hyperlink" Target="https://geology-ags-aer.opendata.arcgis.com/" TargetMode="External"/><Relationship Id="rId2" Type="http://schemas.openxmlformats.org/officeDocument/2006/relationships/hyperlink" Target="https://geology-ags-aer.opendata.arcgis.com/datasets/2e91026904a6458685c5b552636741ee_0/explore?location=52.153156,-114.905016,6.75" TargetMode="External"/><Relationship Id="rId1" Type="http://schemas.openxmlformats.org/officeDocument/2006/relationships/slideLayout" Target="../slideLayouts/slideLayout2.xml"/><Relationship Id="rId5" Type="http://schemas.openxmlformats.org/officeDocument/2006/relationships/hyperlink" Target="https://www.alberta.ca/common-water-quality-terms" TargetMode="External"/><Relationship Id="rId4" Type="http://schemas.openxmlformats.org/officeDocument/2006/relationships/hyperlink" Target="https://osdp-psdo.canada.ca/dp/en/search/metadata/ECCC-CESI-WATER-1-AB07GJ00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219498-D544-41AC-98FE-8F956EF66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500DBFC-17A9-4E0A-AEE2-A49F9AEEF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48600" y="1715591"/>
            <a:ext cx="5935224" cy="1297115"/>
          </a:xfrm>
        </p:spPr>
        <p:txBody>
          <a:bodyPr anchor="t">
            <a:noAutofit/>
          </a:bodyPr>
          <a:lstStyle/>
          <a:p>
            <a:pPr algn="l"/>
            <a:r>
              <a:rPr lang="en-US" b="1"/>
              <a:t>Iron vulnerability in the Wapiti River region</a:t>
            </a:r>
          </a:p>
        </p:txBody>
      </p:sp>
      <p:sp>
        <p:nvSpPr>
          <p:cNvPr id="3" name="Subtitle 2"/>
          <p:cNvSpPr>
            <a:spLocks noGrp="1"/>
          </p:cNvSpPr>
          <p:nvPr>
            <p:ph type="subTitle" idx="1"/>
          </p:nvPr>
        </p:nvSpPr>
        <p:spPr>
          <a:xfrm>
            <a:off x="648600" y="3961481"/>
            <a:ext cx="4805691" cy="838831"/>
          </a:xfrm>
        </p:spPr>
        <p:txBody>
          <a:bodyPr vert="horz" lIns="91440" tIns="45720" rIns="91440" bIns="45720" rtlCol="0" anchor="b">
            <a:normAutofit/>
          </a:bodyPr>
          <a:lstStyle/>
          <a:p>
            <a:pPr algn="l"/>
            <a:r>
              <a:rPr lang="en-US" sz="2000" b="1">
                <a:solidFill>
                  <a:schemeClr val="tx2"/>
                </a:solidFill>
              </a:rPr>
              <a:t>By Anisha Thammavongsa</a:t>
            </a:r>
          </a:p>
        </p:txBody>
      </p:sp>
      <p:grpSp>
        <p:nvGrpSpPr>
          <p:cNvPr id="14" name="Group 13">
            <a:extLst>
              <a:ext uri="{FF2B5EF4-FFF2-40B4-BE49-F238E27FC236}">
                <a16:creationId xmlns:a16="http://schemas.microsoft.com/office/drawing/2014/main" id="{D74613BB-817C-4C4F-8A24-4936F2F064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1023" y="52996"/>
            <a:ext cx="6093363" cy="6805005"/>
            <a:chOff x="6101023" y="52996"/>
            <a:chExt cx="6093363" cy="6805005"/>
          </a:xfrm>
        </p:grpSpPr>
        <p:sp>
          <p:nvSpPr>
            <p:cNvPr id="15" name="Freeform: Shape 14">
              <a:extLst>
                <a:ext uri="{FF2B5EF4-FFF2-40B4-BE49-F238E27FC236}">
                  <a16:creationId xmlns:a16="http://schemas.microsoft.com/office/drawing/2014/main" id="{926C820D-9A01-44F0-AE18-C2DAB089B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3517682 w 5890490"/>
                <a:gd name="connsiteY0" fmla="*/ 0 h 6578439"/>
                <a:gd name="connsiteX1" fmla="*/ 5849513 w 5890490"/>
                <a:gd name="connsiteY1" fmla="*/ 841730 h 6578439"/>
                <a:gd name="connsiteX2" fmla="*/ 5890490 w 5890490"/>
                <a:gd name="connsiteY2" fmla="*/ 879060 h 6578439"/>
                <a:gd name="connsiteX3" fmla="*/ 5890490 w 5890490"/>
                <a:gd name="connsiteY3" fmla="*/ 1816052 h 6578439"/>
                <a:gd name="connsiteX4" fmla="*/ 5856961 w 5890490"/>
                <a:gd name="connsiteY4" fmla="*/ 1771023 h 6578439"/>
                <a:gd name="connsiteX5" fmla="*/ 5655397 w 5890490"/>
                <a:gd name="connsiteY5" fmla="*/ 1548813 h 6578439"/>
                <a:gd name="connsiteX6" fmla="*/ 3517682 w 5890490"/>
                <a:gd name="connsiteY6" fmla="*/ 658717 h 6578439"/>
                <a:gd name="connsiteX7" fmla="*/ 2395696 w 5890490"/>
                <a:gd name="connsiteY7" fmla="*/ 850721 h 6578439"/>
                <a:gd name="connsiteX8" fmla="*/ 1519955 w 5890490"/>
                <a:gd name="connsiteY8" fmla="*/ 1450441 h 6578439"/>
                <a:gd name="connsiteX9" fmla="*/ 1223630 w 5890490"/>
                <a:gd name="connsiteY9" fmla="*/ 1841430 h 6578439"/>
                <a:gd name="connsiteX10" fmla="*/ 1075857 w 5890490"/>
                <a:gd name="connsiteY10" fmla="*/ 2329343 h 6578439"/>
                <a:gd name="connsiteX11" fmla="*/ 731010 w 5890490"/>
                <a:gd name="connsiteY11" fmla="*/ 3483744 h 6578439"/>
                <a:gd name="connsiteX12" fmla="*/ 741000 w 5890490"/>
                <a:gd name="connsiteY12" fmla="*/ 4479719 h 6578439"/>
                <a:gd name="connsiteX13" fmla="*/ 1315615 w 5890490"/>
                <a:gd name="connsiteY13" fmla="*/ 5443827 h 6578439"/>
                <a:gd name="connsiteX14" fmla="*/ 2277503 w 5890490"/>
                <a:gd name="connsiteY14" fmla="*/ 6259386 h 6578439"/>
                <a:gd name="connsiteX15" fmla="*/ 3439448 w 5890490"/>
                <a:gd name="connsiteY15" fmla="*/ 6551739 h 6578439"/>
                <a:gd name="connsiteX16" fmla="*/ 4408732 w 5890490"/>
                <a:gd name="connsiteY16" fmla="*/ 6255172 h 6578439"/>
                <a:gd name="connsiteX17" fmla="*/ 5343243 w 5890490"/>
                <a:gd name="connsiteY17" fmla="*/ 5442509 h 6578439"/>
                <a:gd name="connsiteX18" fmla="*/ 5745566 w 5890490"/>
                <a:gd name="connsiteY18" fmla="*/ 5056656 h 6578439"/>
                <a:gd name="connsiteX19" fmla="*/ 5890490 w 5890490"/>
                <a:gd name="connsiteY19" fmla="*/ 4920880 h 6578439"/>
                <a:gd name="connsiteX20" fmla="*/ 5890490 w 5890490"/>
                <a:gd name="connsiteY20" fmla="*/ 5821966 h 6578439"/>
                <a:gd name="connsiteX21" fmla="*/ 5802002 w 5890490"/>
                <a:gd name="connsiteY21" fmla="*/ 5907904 h 6578439"/>
                <a:gd name="connsiteX22" fmla="*/ 5294358 w 5890490"/>
                <a:gd name="connsiteY22" fmla="*/ 6397505 h 6578439"/>
                <a:gd name="connsiteX23" fmla="*/ 5077178 w 5890490"/>
                <a:gd name="connsiteY23" fmla="*/ 6578439 h 6578439"/>
                <a:gd name="connsiteX24" fmla="*/ 1567290 w 5890490"/>
                <a:gd name="connsiteY24" fmla="*/ 6578439 h 6578439"/>
                <a:gd name="connsiteX25" fmla="*/ 1508588 w 5890490"/>
                <a:gd name="connsiteY25" fmla="*/ 6535186 h 6578439"/>
                <a:gd name="connsiteX26" fmla="*/ 826498 w 5890490"/>
                <a:gd name="connsiteY26" fmla="*/ 5876034 h 6578439"/>
                <a:gd name="connsiteX27" fmla="*/ 122403 w 5890490"/>
                <a:gd name="connsiteY27" fmla="*/ 3255655 h 6578439"/>
                <a:gd name="connsiteX28" fmla="*/ 1061197 w 5890490"/>
                <a:gd name="connsiteY28" fmla="*/ 984650 h 6578439"/>
                <a:gd name="connsiteX29" fmla="*/ 3517682 w 5890490"/>
                <a:gd name="connsiteY29"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90" h="6578439">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458B604F-996E-4349-B131-E04ED285D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5"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7CCEAF3-651B-4605-AE58-F96E227036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3"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gs>
                <a:gs pos="16000">
                  <a:schemeClr val="accent6">
                    <a:alpha val="10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D519330-E5F1-4248-B58C-1AA0D9E6D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Graphic 6" descr="Water">
            <a:extLst>
              <a:ext uri="{FF2B5EF4-FFF2-40B4-BE49-F238E27FC236}">
                <a16:creationId xmlns:a16="http://schemas.microsoft.com/office/drawing/2014/main" id="{8462B989-5153-8D7C-6A12-3BB7F3BC45D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29652" y="1859078"/>
            <a:ext cx="3821102" cy="3821102"/>
          </a:xfrm>
          <a:prstGeom prst="rect">
            <a:avLst/>
          </a:prstGeom>
          <a:ln>
            <a:noFill/>
          </a:ln>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7EFD7-F098-9936-1209-E20BE424B528}"/>
              </a:ext>
            </a:extLst>
          </p:cNvPr>
          <p:cNvSpPr>
            <a:spLocks noGrp="1"/>
          </p:cNvSpPr>
          <p:nvPr>
            <p:ph type="title"/>
          </p:nvPr>
        </p:nvSpPr>
        <p:spPr/>
        <p:txBody>
          <a:bodyPr/>
          <a:lstStyle/>
          <a:p>
            <a:r>
              <a:rPr lang="en-US" b="1"/>
              <a:t>INTRODUCTION</a:t>
            </a:r>
          </a:p>
        </p:txBody>
      </p:sp>
      <p:pic>
        <p:nvPicPr>
          <p:cNvPr id="4" name="Content Placeholder 3" descr="A map of the area&#10;&#10;AI-generated content may be incorrect.">
            <a:extLst>
              <a:ext uri="{FF2B5EF4-FFF2-40B4-BE49-F238E27FC236}">
                <a16:creationId xmlns:a16="http://schemas.microsoft.com/office/drawing/2014/main" id="{2AFCE1AE-F80B-2810-1DB7-768732767A13}"/>
              </a:ext>
            </a:extLst>
          </p:cNvPr>
          <p:cNvPicPr>
            <a:picLocks noGrp="1" noChangeAspect="1"/>
          </p:cNvPicPr>
          <p:nvPr>
            <p:ph idx="1"/>
          </p:nvPr>
        </p:nvPicPr>
        <p:blipFill>
          <a:blip r:embed="rId3"/>
          <a:stretch>
            <a:fillRect/>
          </a:stretch>
        </p:blipFill>
        <p:spPr>
          <a:xfrm>
            <a:off x="7610504" y="624010"/>
            <a:ext cx="3916914" cy="5601799"/>
          </a:xfrm>
          <a:prstGeom prst="rect">
            <a:avLst/>
          </a:prstGeom>
        </p:spPr>
      </p:pic>
      <p:sp>
        <p:nvSpPr>
          <p:cNvPr id="3" name="TextBox 2">
            <a:extLst>
              <a:ext uri="{FF2B5EF4-FFF2-40B4-BE49-F238E27FC236}">
                <a16:creationId xmlns:a16="http://schemas.microsoft.com/office/drawing/2014/main" id="{DD8BD40C-B3C9-4575-F6A7-ED7A1C0686DB}"/>
              </a:ext>
            </a:extLst>
          </p:cNvPr>
          <p:cNvSpPr txBox="1"/>
          <p:nvPr/>
        </p:nvSpPr>
        <p:spPr>
          <a:xfrm>
            <a:off x="679450" y="1685925"/>
            <a:ext cx="3270250"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dirty="0"/>
              <a:t>Wapiti River is a source of </a:t>
            </a:r>
            <a:r>
              <a:rPr lang="en-US" sz="2400"/>
              <a:t>drinking</a:t>
            </a:r>
            <a:r>
              <a:rPr lang="en-US" sz="2400" dirty="0"/>
              <a:t> water to local populations</a:t>
            </a:r>
            <a:endParaRPr lang="en-US"/>
          </a:p>
          <a:p>
            <a:pPr marL="342900" indent="-342900">
              <a:buFont typeface="Arial"/>
              <a:buChar char="•"/>
            </a:pPr>
            <a:endParaRPr lang="en-US" sz="2400" dirty="0"/>
          </a:p>
          <a:p>
            <a:pPr marL="342900" indent="-342900">
              <a:buFont typeface="Arial"/>
              <a:buChar char="•"/>
            </a:pPr>
            <a:r>
              <a:rPr lang="en-US" sz="2400"/>
              <a:t>Historically polluted </a:t>
            </a:r>
            <a:endParaRPr lang="en-US" sz="2400" dirty="0"/>
          </a:p>
          <a:p>
            <a:pPr marL="342900" indent="-342900">
              <a:buFont typeface="Arial"/>
              <a:buChar char="•"/>
            </a:pPr>
            <a:endParaRPr lang="en-US" sz="2400" dirty="0"/>
          </a:p>
          <a:p>
            <a:pPr marL="342900" indent="-342900">
              <a:buFont typeface="Arial"/>
              <a:buChar char="•"/>
            </a:pPr>
            <a:r>
              <a:rPr lang="en-US" sz="2400"/>
              <a:t>Agricultural and mining land use </a:t>
            </a:r>
          </a:p>
          <a:p>
            <a:endParaRPr lang="en-US" sz="2400" dirty="0"/>
          </a:p>
          <a:p>
            <a:endParaRPr lang="en-US" dirty="0"/>
          </a:p>
        </p:txBody>
      </p:sp>
      <p:sp>
        <p:nvSpPr>
          <p:cNvPr id="5" name="TextBox 4">
            <a:extLst>
              <a:ext uri="{FF2B5EF4-FFF2-40B4-BE49-F238E27FC236}">
                <a16:creationId xmlns:a16="http://schemas.microsoft.com/office/drawing/2014/main" id="{B3DE0D2D-4E36-F5A4-08EE-4A03BC14BCDB}"/>
              </a:ext>
            </a:extLst>
          </p:cNvPr>
          <p:cNvSpPr txBox="1"/>
          <p:nvPr/>
        </p:nvSpPr>
        <p:spPr>
          <a:xfrm>
            <a:off x="5073650" y="4724400"/>
            <a:ext cx="2692888"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t>https://osdp-psdo.canada.ca/dp/en/search/metadata/ECCC-CESI-WATER-1-AB07GJ0030</a:t>
            </a:r>
          </a:p>
          <a:p>
            <a:pPr algn="ctr"/>
            <a:endParaRPr lang="en-US"/>
          </a:p>
        </p:txBody>
      </p:sp>
      <p:pic>
        <p:nvPicPr>
          <p:cNvPr id="6" name="Picture 5" descr="A map of a forest with rivers&#10;&#10;AI-generated content may be incorrect.">
            <a:extLst>
              <a:ext uri="{FF2B5EF4-FFF2-40B4-BE49-F238E27FC236}">
                <a16:creationId xmlns:a16="http://schemas.microsoft.com/office/drawing/2014/main" id="{1F0E050E-40A9-7518-8F1B-AF9CC34A13E3}"/>
              </a:ext>
            </a:extLst>
          </p:cNvPr>
          <p:cNvPicPr>
            <a:picLocks noChangeAspect="1"/>
          </p:cNvPicPr>
          <p:nvPr/>
        </p:nvPicPr>
        <p:blipFill>
          <a:blip r:embed="rId4"/>
          <a:stretch>
            <a:fillRect/>
          </a:stretch>
        </p:blipFill>
        <p:spPr>
          <a:xfrm>
            <a:off x="4805607" y="1485900"/>
            <a:ext cx="2587625" cy="3238500"/>
          </a:xfrm>
          <a:prstGeom prst="rect">
            <a:avLst/>
          </a:prstGeom>
        </p:spPr>
      </p:pic>
      <p:sp>
        <p:nvSpPr>
          <p:cNvPr id="7" name="TextBox 6">
            <a:extLst>
              <a:ext uri="{FF2B5EF4-FFF2-40B4-BE49-F238E27FC236}">
                <a16:creationId xmlns:a16="http://schemas.microsoft.com/office/drawing/2014/main" id="{C380CA21-F56B-2563-00D8-1CB2B7596E7E}"/>
              </a:ext>
            </a:extLst>
          </p:cNvPr>
          <p:cNvSpPr txBox="1"/>
          <p:nvPr/>
        </p:nvSpPr>
        <p:spPr>
          <a:xfrm>
            <a:off x="692185" y="5636373"/>
            <a:ext cx="692186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The goal of this project is ultimately to define the areas of the Wapiti river region that have unsuitable iron concentrations within the water wells. </a:t>
            </a:r>
          </a:p>
        </p:txBody>
      </p:sp>
    </p:spTree>
    <p:extLst>
      <p:ext uri="{BB962C8B-B14F-4D97-AF65-F5344CB8AC3E}">
        <p14:creationId xmlns:p14="http://schemas.microsoft.com/office/powerpoint/2010/main" val="3298814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85BE8-9BAA-F9E1-F076-412253FC2B23}"/>
              </a:ext>
            </a:extLst>
          </p:cNvPr>
          <p:cNvSpPr>
            <a:spLocks noGrp="1"/>
          </p:cNvSpPr>
          <p:nvPr>
            <p:ph type="title"/>
          </p:nvPr>
        </p:nvSpPr>
        <p:spPr/>
        <p:txBody>
          <a:bodyPr/>
          <a:lstStyle/>
          <a:p>
            <a:r>
              <a:rPr lang="en-US" b="1"/>
              <a:t>DATA</a:t>
            </a:r>
          </a:p>
        </p:txBody>
      </p:sp>
      <p:pic>
        <p:nvPicPr>
          <p:cNvPr id="5" name="Picture 4">
            <a:extLst>
              <a:ext uri="{FF2B5EF4-FFF2-40B4-BE49-F238E27FC236}">
                <a16:creationId xmlns:a16="http://schemas.microsoft.com/office/drawing/2014/main" id="{F74C1D68-C8B5-1241-51CC-47F76F74622B}"/>
              </a:ext>
            </a:extLst>
          </p:cNvPr>
          <p:cNvPicPr>
            <a:picLocks noChangeAspect="1"/>
          </p:cNvPicPr>
          <p:nvPr/>
        </p:nvPicPr>
        <p:blipFill>
          <a:blip r:embed="rId3"/>
          <a:stretch>
            <a:fillRect/>
          </a:stretch>
        </p:blipFill>
        <p:spPr>
          <a:xfrm>
            <a:off x="7649058" y="479999"/>
            <a:ext cx="3881006" cy="5479474"/>
          </a:xfrm>
          <a:prstGeom prst="rect">
            <a:avLst/>
          </a:prstGeom>
        </p:spPr>
      </p:pic>
      <p:sp>
        <p:nvSpPr>
          <p:cNvPr id="3" name="TextBox 2">
            <a:extLst>
              <a:ext uri="{FF2B5EF4-FFF2-40B4-BE49-F238E27FC236}">
                <a16:creationId xmlns:a16="http://schemas.microsoft.com/office/drawing/2014/main" id="{00783572-5027-0441-2190-94F796D46AAB}"/>
              </a:ext>
            </a:extLst>
          </p:cNvPr>
          <p:cNvSpPr txBox="1"/>
          <p:nvPr/>
        </p:nvSpPr>
        <p:spPr>
          <a:xfrm>
            <a:off x="758108" y="1724971"/>
            <a:ext cx="5790192"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Collected from </a:t>
            </a:r>
            <a:r>
              <a:rPr lang="en-US" sz="2400"/>
              <a:t>Alberta</a:t>
            </a:r>
            <a:r>
              <a:rPr lang="en-US" sz="2400" dirty="0"/>
              <a:t> Geologic Survey</a:t>
            </a:r>
          </a:p>
          <a:p>
            <a:endParaRPr lang="en-US" sz="2400" dirty="0"/>
          </a:p>
          <a:p>
            <a:r>
              <a:rPr lang="en-US" sz="2400" b="1"/>
              <a:t>Distribution of Total Dissolved Solids in the Wapiti / Belly River HSU (DIG 2017-0026)</a:t>
            </a:r>
            <a:endParaRPr lang="en-US" sz="2400" dirty="0"/>
          </a:p>
          <a:p>
            <a:endParaRPr lang="en-US" sz="2400" dirty="0"/>
          </a:p>
          <a:p>
            <a:r>
              <a:rPr lang="en-US" sz="2400"/>
              <a:t>And </a:t>
            </a:r>
            <a:endParaRPr lang="en-US" sz="2400" dirty="0"/>
          </a:p>
          <a:p>
            <a:endParaRPr lang="en-US" sz="2400" dirty="0"/>
          </a:p>
          <a:p>
            <a:r>
              <a:rPr lang="en-US" sz="2400" b="1"/>
              <a:t>Hydrogeological Regions of Alberta</a:t>
            </a:r>
            <a:endParaRPr lang="en-US" sz="2400"/>
          </a:p>
          <a:p>
            <a:endParaRPr lang="en-US" dirty="0"/>
          </a:p>
        </p:txBody>
      </p:sp>
    </p:spTree>
    <p:extLst>
      <p:ext uri="{BB962C8B-B14F-4D97-AF65-F5344CB8AC3E}">
        <p14:creationId xmlns:p14="http://schemas.microsoft.com/office/powerpoint/2010/main" val="3124486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1D61F-8F45-20BC-15BD-E998A84663E3}"/>
              </a:ext>
            </a:extLst>
          </p:cNvPr>
          <p:cNvSpPr>
            <a:spLocks noGrp="1"/>
          </p:cNvSpPr>
          <p:nvPr>
            <p:ph type="title"/>
          </p:nvPr>
        </p:nvSpPr>
        <p:spPr>
          <a:xfrm>
            <a:off x="505691" y="336929"/>
            <a:ext cx="10515600" cy="1325563"/>
          </a:xfrm>
        </p:spPr>
        <p:txBody>
          <a:bodyPr/>
          <a:lstStyle/>
          <a:p>
            <a:r>
              <a:rPr lang="en-US" b="1"/>
              <a:t>GENERAL</a:t>
            </a:r>
            <a:r>
              <a:rPr lang="en-US"/>
              <a:t> </a:t>
            </a:r>
            <a:r>
              <a:rPr lang="en-US" b="1"/>
              <a:t>FLOWCHART</a:t>
            </a:r>
          </a:p>
        </p:txBody>
      </p:sp>
      <p:sp>
        <p:nvSpPr>
          <p:cNvPr id="5" name="Rectangle: Rounded Corners 4">
            <a:extLst>
              <a:ext uri="{FF2B5EF4-FFF2-40B4-BE49-F238E27FC236}">
                <a16:creationId xmlns:a16="http://schemas.microsoft.com/office/drawing/2014/main" id="{1B5C5155-168F-6E77-3218-37216FE9AE67}"/>
              </a:ext>
            </a:extLst>
          </p:cNvPr>
          <p:cNvSpPr/>
          <p:nvPr/>
        </p:nvSpPr>
        <p:spPr>
          <a:xfrm>
            <a:off x="1119483" y="1973117"/>
            <a:ext cx="1634289" cy="992605"/>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 name="Rectangle: Rounded Corners 5">
            <a:extLst>
              <a:ext uri="{FF2B5EF4-FFF2-40B4-BE49-F238E27FC236}">
                <a16:creationId xmlns:a16="http://schemas.microsoft.com/office/drawing/2014/main" id="{2E56D406-B94A-A653-8329-17E5295EE97A}"/>
              </a:ext>
            </a:extLst>
          </p:cNvPr>
          <p:cNvSpPr/>
          <p:nvPr/>
        </p:nvSpPr>
        <p:spPr>
          <a:xfrm>
            <a:off x="3084639" y="1658959"/>
            <a:ext cx="1366922" cy="838870"/>
          </a:xfrm>
          <a:prstGeom prst="ellipse">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 name="Rectangle: Rounded Corners 5">
            <a:extLst>
              <a:ext uri="{FF2B5EF4-FFF2-40B4-BE49-F238E27FC236}">
                <a16:creationId xmlns:a16="http://schemas.microsoft.com/office/drawing/2014/main" id="{95F9E674-E649-A26F-F9ED-3A921DFE13F7}"/>
              </a:ext>
            </a:extLst>
          </p:cNvPr>
          <p:cNvSpPr/>
          <p:nvPr/>
        </p:nvSpPr>
        <p:spPr>
          <a:xfrm>
            <a:off x="3064586" y="2628170"/>
            <a:ext cx="1366922" cy="838870"/>
          </a:xfrm>
          <a:prstGeom prst="ellipse">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8" name="Rectangle: Rounded Corners 5">
            <a:extLst>
              <a:ext uri="{FF2B5EF4-FFF2-40B4-BE49-F238E27FC236}">
                <a16:creationId xmlns:a16="http://schemas.microsoft.com/office/drawing/2014/main" id="{202B198E-EE27-0A1F-01FD-3ED9C101F2C3}"/>
              </a:ext>
            </a:extLst>
          </p:cNvPr>
          <p:cNvSpPr/>
          <p:nvPr/>
        </p:nvSpPr>
        <p:spPr>
          <a:xfrm>
            <a:off x="4742322" y="1953065"/>
            <a:ext cx="1634289" cy="992605"/>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0" name="TextBox 9">
            <a:extLst>
              <a:ext uri="{FF2B5EF4-FFF2-40B4-BE49-F238E27FC236}">
                <a16:creationId xmlns:a16="http://schemas.microsoft.com/office/drawing/2014/main" id="{93326FA2-CAFD-E758-70B8-596DED26494E}"/>
              </a:ext>
            </a:extLst>
          </p:cNvPr>
          <p:cNvSpPr txBox="1"/>
          <p:nvPr/>
        </p:nvSpPr>
        <p:spPr>
          <a:xfrm>
            <a:off x="1116142" y="2280591"/>
            <a:ext cx="18181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Sample points </a:t>
            </a:r>
          </a:p>
        </p:txBody>
      </p:sp>
      <p:sp>
        <p:nvSpPr>
          <p:cNvPr id="11" name="TextBox 10">
            <a:extLst>
              <a:ext uri="{FF2B5EF4-FFF2-40B4-BE49-F238E27FC236}">
                <a16:creationId xmlns:a16="http://schemas.microsoft.com/office/drawing/2014/main" id="{84B64F28-DC64-E595-C158-A38C6638A75B}"/>
              </a:ext>
            </a:extLst>
          </p:cNvPr>
          <p:cNvSpPr txBox="1"/>
          <p:nvPr/>
        </p:nvSpPr>
        <p:spPr>
          <a:xfrm>
            <a:off x="3241720" y="1829408"/>
            <a:ext cx="107281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t>Wapiti River </a:t>
            </a:r>
            <a:r>
              <a:rPr lang="en-US" sz="1400" b="1"/>
              <a:t>wells</a:t>
            </a:r>
            <a:endParaRPr lang="en-US" sz="1400" b="1" dirty="0"/>
          </a:p>
        </p:txBody>
      </p:sp>
      <p:sp>
        <p:nvSpPr>
          <p:cNvPr id="12" name="TextBox 11">
            <a:extLst>
              <a:ext uri="{FF2B5EF4-FFF2-40B4-BE49-F238E27FC236}">
                <a16:creationId xmlns:a16="http://schemas.microsoft.com/office/drawing/2014/main" id="{6160AEB8-601B-24DA-3CAD-8D6B9F29FC3F}"/>
              </a:ext>
            </a:extLst>
          </p:cNvPr>
          <p:cNvSpPr txBox="1"/>
          <p:nvPr/>
        </p:nvSpPr>
        <p:spPr>
          <a:xfrm>
            <a:off x="3300906" y="2779293"/>
            <a:ext cx="1140328"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Alberta Bedrock</a:t>
            </a:r>
            <a:endParaRPr lang="en-US" sz="1400" b="1"/>
          </a:p>
          <a:p>
            <a:pPr algn="ctr"/>
            <a:endParaRPr lang="en-US" b="1"/>
          </a:p>
        </p:txBody>
      </p:sp>
      <p:sp>
        <p:nvSpPr>
          <p:cNvPr id="13" name="TextBox 12">
            <a:extLst>
              <a:ext uri="{FF2B5EF4-FFF2-40B4-BE49-F238E27FC236}">
                <a16:creationId xmlns:a16="http://schemas.microsoft.com/office/drawing/2014/main" id="{DCEC583E-5D29-B33D-A287-94EFB3BB6168}"/>
              </a:ext>
            </a:extLst>
          </p:cNvPr>
          <p:cNvSpPr txBox="1"/>
          <p:nvPr/>
        </p:nvSpPr>
        <p:spPr>
          <a:xfrm>
            <a:off x="4952877" y="2123513"/>
            <a:ext cx="1216527"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ptos"/>
              </a:rPr>
              <a:t>Spatial Join</a:t>
            </a:r>
            <a:endParaRPr lang="en-US" b="1"/>
          </a:p>
          <a:p>
            <a:pPr algn="ctr"/>
            <a:endParaRPr lang="en-US" sz="2400" b="1" dirty="0"/>
          </a:p>
        </p:txBody>
      </p:sp>
      <p:sp>
        <p:nvSpPr>
          <p:cNvPr id="16" name="Rectangle: Rounded Corners 15">
            <a:extLst>
              <a:ext uri="{FF2B5EF4-FFF2-40B4-BE49-F238E27FC236}">
                <a16:creationId xmlns:a16="http://schemas.microsoft.com/office/drawing/2014/main" id="{0254834D-15D7-BC9C-A38E-4FD6B83F3E57}"/>
              </a:ext>
            </a:extLst>
          </p:cNvPr>
          <p:cNvSpPr/>
          <p:nvPr/>
        </p:nvSpPr>
        <p:spPr>
          <a:xfrm>
            <a:off x="9087060" y="1999853"/>
            <a:ext cx="1634289" cy="992605"/>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7" name="Rectangle: Rounded Corners 5">
            <a:extLst>
              <a:ext uri="{FF2B5EF4-FFF2-40B4-BE49-F238E27FC236}">
                <a16:creationId xmlns:a16="http://schemas.microsoft.com/office/drawing/2014/main" id="{16D33F07-84F2-734F-A40F-355DEEA85C55}"/>
              </a:ext>
            </a:extLst>
          </p:cNvPr>
          <p:cNvSpPr/>
          <p:nvPr/>
        </p:nvSpPr>
        <p:spPr>
          <a:xfrm>
            <a:off x="6914691" y="1973117"/>
            <a:ext cx="1634289" cy="99260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8" name="TextBox 17">
            <a:extLst>
              <a:ext uri="{FF2B5EF4-FFF2-40B4-BE49-F238E27FC236}">
                <a16:creationId xmlns:a16="http://schemas.microsoft.com/office/drawing/2014/main" id="{F1561B33-85FD-B709-7414-979683E8020A}"/>
              </a:ext>
            </a:extLst>
          </p:cNvPr>
          <p:cNvSpPr txBox="1"/>
          <p:nvPr/>
        </p:nvSpPr>
        <p:spPr>
          <a:xfrm>
            <a:off x="6924720" y="2250513"/>
            <a:ext cx="1624264"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latin typeface="Aptos"/>
                <a:ea typeface="Segoe UI"/>
                <a:cs typeface="Segoe UI"/>
              </a:rPr>
              <a:t>Wells + </a:t>
            </a:r>
            <a:r>
              <a:rPr lang="en-US" sz="1400" b="1">
                <a:latin typeface="Aptos"/>
                <a:ea typeface="Segoe UI"/>
                <a:cs typeface="Segoe UI"/>
              </a:rPr>
              <a:t>Bedrock data</a:t>
            </a:r>
          </a:p>
          <a:p>
            <a:pPr algn="ctr" rtl="0"/>
            <a:r>
              <a:rPr lang="en-US" sz="1800" b="1">
                <a:latin typeface="Aptos"/>
                <a:ea typeface="Segoe UI"/>
                <a:cs typeface="Segoe UI"/>
              </a:rPr>
              <a:t>​</a:t>
            </a:r>
          </a:p>
          <a:p>
            <a:pPr algn="ctr"/>
            <a:endParaRPr lang="en-US" b="1"/>
          </a:p>
        </p:txBody>
      </p:sp>
      <p:sp>
        <p:nvSpPr>
          <p:cNvPr id="19" name="TextBox 18">
            <a:extLst>
              <a:ext uri="{FF2B5EF4-FFF2-40B4-BE49-F238E27FC236}">
                <a16:creationId xmlns:a16="http://schemas.microsoft.com/office/drawing/2014/main" id="{8BBCAE3A-1358-D4B1-C82B-6F5F8848FE1D}"/>
              </a:ext>
            </a:extLst>
          </p:cNvPr>
          <p:cNvSpPr txBox="1"/>
          <p:nvPr/>
        </p:nvSpPr>
        <p:spPr>
          <a:xfrm>
            <a:off x="9163930" y="2217092"/>
            <a:ext cx="1417053"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400" b="1" baseline="0">
                <a:latin typeface="Aptos"/>
                <a:ea typeface="Segoe UI"/>
                <a:cs typeface="Segoe UI"/>
              </a:rPr>
              <a:t>Spatial </a:t>
            </a:r>
            <a:r>
              <a:rPr lang="en-US" sz="1400" b="1">
                <a:latin typeface="Aptos"/>
                <a:ea typeface="Segoe UI"/>
                <a:cs typeface="Segoe UI"/>
              </a:rPr>
              <a:t>Trends?</a:t>
            </a:r>
            <a:endParaRPr lang="en-US" b="1"/>
          </a:p>
          <a:p>
            <a:pPr algn="ctr" rtl="0"/>
            <a:r>
              <a:rPr lang="en-US" sz="1800" b="1">
                <a:latin typeface="Aptos"/>
                <a:ea typeface="Segoe UI"/>
                <a:cs typeface="Segoe UI"/>
              </a:rPr>
              <a:t>​</a:t>
            </a:r>
          </a:p>
          <a:p>
            <a:pPr algn="ctr"/>
            <a:endParaRPr lang="en-US" b="1"/>
          </a:p>
        </p:txBody>
      </p:sp>
      <p:sp>
        <p:nvSpPr>
          <p:cNvPr id="20" name="Rectangle: Rounded Corners 5">
            <a:extLst>
              <a:ext uri="{FF2B5EF4-FFF2-40B4-BE49-F238E27FC236}">
                <a16:creationId xmlns:a16="http://schemas.microsoft.com/office/drawing/2014/main" id="{16619660-A6C1-A205-7DD0-DCA34D96FE39}"/>
              </a:ext>
            </a:extLst>
          </p:cNvPr>
          <p:cNvSpPr/>
          <p:nvPr/>
        </p:nvSpPr>
        <p:spPr>
          <a:xfrm>
            <a:off x="9267534" y="3637486"/>
            <a:ext cx="1634289" cy="99260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1" name="TextBox 20">
            <a:extLst>
              <a:ext uri="{FF2B5EF4-FFF2-40B4-BE49-F238E27FC236}">
                <a16:creationId xmlns:a16="http://schemas.microsoft.com/office/drawing/2014/main" id="{18C9A160-F59B-DC49-9EE7-42B31E1FD527}"/>
              </a:ext>
            </a:extLst>
          </p:cNvPr>
          <p:cNvSpPr txBox="1"/>
          <p:nvPr/>
        </p:nvSpPr>
        <p:spPr>
          <a:xfrm>
            <a:off x="9270879" y="3781198"/>
            <a:ext cx="1624264"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Aptos"/>
                <a:cs typeface="Segoe UI"/>
              </a:rPr>
              <a:t>Fe</a:t>
            </a:r>
            <a:endParaRPr lang="en-US" b="1"/>
          </a:p>
          <a:p>
            <a:pPr algn="ctr"/>
            <a:r>
              <a:rPr lang="en-US" sz="1400" b="1">
                <a:latin typeface="Aptos"/>
                <a:ea typeface="Segoe UI"/>
                <a:cs typeface="Segoe UI"/>
              </a:rPr>
              <a:t>Histogram</a:t>
            </a:r>
            <a:endParaRPr lang="en-US" b="1"/>
          </a:p>
          <a:p>
            <a:pPr algn="ctr" rtl="0"/>
            <a:r>
              <a:rPr lang="en-US" sz="1800" b="1">
                <a:latin typeface="Aptos"/>
                <a:ea typeface="Segoe UI"/>
                <a:cs typeface="Segoe UI"/>
              </a:rPr>
              <a:t>​</a:t>
            </a:r>
          </a:p>
          <a:p>
            <a:pPr algn="ctr"/>
            <a:endParaRPr lang="en-US" b="1"/>
          </a:p>
        </p:txBody>
      </p:sp>
      <p:sp>
        <p:nvSpPr>
          <p:cNvPr id="22" name="Rectangle: Rounded Corners 5">
            <a:extLst>
              <a:ext uri="{FF2B5EF4-FFF2-40B4-BE49-F238E27FC236}">
                <a16:creationId xmlns:a16="http://schemas.microsoft.com/office/drawing/2014/main" id="{F969C881-285E-84C1-4556-25F5401CCE68}"/>
              </a:ext>
            </a:extLst>
          </p:cNvPr>
          <p:cNvSpPr/>
          <p:nvPr/>
        </p:nvSpPr>
        <p:spPr>
          <a:xfrm>
            <a:off x="7168691" y="3670907"/>
            <a:ext cx="1634289" cy="992605"/>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3" name="TextBox 22">
            <a:extLst>
              <a:ext uri="{FF2B5EF4-FFF2-40B4-BE49-F238E27FC236}">
                <a16:creationId xmlns:a16="http://schemas.microsoft.com/office/drawing/2014/main" id="{0974665E-A9C7-0AF2-F4FA-80C908FB7C21}"/>
              </a:ext>
            </a:extLst>
          </p:cNvPr>
          <p:cNvSpPr txBox="1"/>
          <p:nvPr/>
        </p:nvSpPr>
        <p:spPr>
          <a:xfrm>
            <a:off x="7439403" y="3801249"/>
            <a:ext cx="136358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Aptos"/>
              </a:rPr>
              <a:t>Vector </a:t>
            </a:r>
            <a:r>
              <a:rPr lang="en-US" b="1">
                <a:latin typeface="Aptos"/>
              </a:rPr>
              <a:t>geometry</a:t>
            </a:r>
            <a:endParaRPr lang="en-US" b="1"/>
          </a:p>
          <a:p>
            <a:pPr algn="ctr"/>
            <a:endParaRPr lang="en-US" b="1"/>
          </a:p>
        </p:txBody>
      </p:sp>
      <p:sp>
        <p:nvSpPr>
          <p:cNvPr id="24" name="Rectangle: Rounded Corners 5">
            <a:extLst>
              <a:ext uri="{FF2B5EF4-FFF2-40B4-BE49-F238E27FC236}">
                <a16:creationId xmlns:a16="http://schemas.microsoft.com/office/drawing/2014/main" id="{F6064183-B3E2-674B-942B-FAF2CE6CD865}"/>
              </a:ext>
            </a:extLst>
          </p:cNvPr>
          <p:cNvSpPr/>
          <p:nvPr/>
        </p:nvSpPr>
        <p:spPr>
          <a:xfrm>
            <a:off x="5029743" y="3637486"/>
            <a:ext cx="1634289" cy="99260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5" name="TextBox 24">
            <a:extLst>
              <a:ext uri="{FF2B5EF4-FFF2-40B4-BE49-F238E27FC236}">
                <a16:creationId xmlns:a16="http://schemas.microsoft.com/office/drawing/2014/main" id="{71CC70F4-387A-5D7D-59FF-AB08FECEF1DC}"/>
              </a:ext>
            </a:extLst>
          </p:cNvPr>
          <p:cNvSpPr txBox="1"/>
          <p:nvPr/>
        </p:nvSpPr>
        <p:spPr>
          <a:xfrm>
            <a:off x="5307139" y="3804105"/>
            <a:ext cx="146408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Thiessen </a:t>
            </a:r>
            <a:r>
              <a:rPr lang="en-US" b="1"/>
              <a:t>Polygon</a:t>
            </a:r>
          </a:p>
        </p:txBody>
      </p:sp>
      <p:sp>
        <p:nvSpPr>
          <p:cNvPr id="26" name="Rectangle: Rounded Corners 5">
            <a:extLst>
              <a:ext uri="{FF2B5EF4-FFF2-40B4-BE49-F238E27FC236}">
                <a16:creationId xmlns:a16="http://schemas.microsoft.com/office/drawing/2014/main" id="{09C54DA0-E76E-23CC-C572-A72866CCC889}"/>
              </a:ext>
            </a:extLst>
          </p:cNvPr>
          <p:cNvSpPr/>
          <p:nvPr/>
        </p:nvSpPr>
        <p:spPr>
          <a:xfrm>
            <a:off x="4393415" y="5413087"/>
            <a:ext cx="1634289" cy="992605"/>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7" name="TextBox 26">
            <a:extLst>
              <a:ext uri="{FF2B5EF4-FFF2-40B4-BE49-F238E27FC236}">
                <a16:creationId xmlns:a16="http://schemas.microsoft.com/office/drawing/2014/main" id="{44C1F224-BCCE-73EF-64F6-6B1611C5AEA7}"/>
              </a:ext>
            </a:extLst>
          </p:cNvPr>
          <p:cNvSpPr txBox="1"/>
          <p:nvPr/>
        </p:nvSpPr>
        <p:spPr>
          <a:xfrm>
            <a:off x="4530443" y="5550113"/>
            <a:ext cx="136358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ptos"/>
              </a:rPr>
              <a:t>Raster Calculator</a:t>
            </a:r>
            <a:endParaRPr lang="en-US" b="1"/>
          </a:p>
          <a:p>
            <a:pPr algn="ctr"/>
            <a:endParaRPr lang="en-US" b="1"/>
          </a:p>
        </p:txBody>
      </p:sp>
      <p:cxnSp>
        <p:nvCxnSpPr>
          <p:cNvPr id="30" name="Straight Arrow Connector 29">
            <a:extLst>
              <a:ext uri="{FF2B5EF4-FFF2-40B4-BE49-F238E27FC236}">
                <a16:creationId xmlns:a16="http://schemas.microsoft.com/office/drawing/2014/main" id="{AD513AA4-69B8-F062-26F0-2079BF32C843}"/>
              </a:ext>
            </a:extLst>
          </p:cNvPr>
          <p:cNvCxnSpPr/>
          <p:nvPr/>
        </p:nvCxnSpPr>
        <p:spPr>
          <a:xfrm flipV="1">
            <a:off x="2779141" y="2116828"/>
            <a:ext cx="317955" cy="6836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2EDD21C-6FFB-DA8D-A79C-CAA55ED060DF}"/>
              </a:ext>
            </a:extLst>
          </p:cNvPr>
          <p:cNvCxnSpPr>
            <a:cxnSpLocks/>
          </p:cNvCxnSpPr>
          <p:nvPr/>
        </p:nvCxnSpPr>
        <p:spPr>
          <a:xfrm>
            <a:off x="2779140" y="2713242"/>
            <a:ext cx="291218" cy="1856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F7A0B1F6-9921-686C-96EF-F8B6CF35DC63}"/>
              </a:ext>
            </a:extLst>
          </p:cNvPr>
          <p:cNvCxnSpPr>
            <a:cxnSpLocks/>
          </p:cNvCxnSpPr>
          <p:nvPr/>
        </p:nvCxnSpPr>
        <p:spPr>
          <a:xfrm flipV="1">
            <a:off x="4461059" y="2922097"/>
            <a:ext cx="280096" cy="13357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F79BA22C-788D-92A8-A7C2-531DB15F311C}"/>
              </a:ext>
            </a:extLst>
          </p:cNvPr>
          <p:cNvCxnSpPr>
            <a:cxnSpLocks/>
          </p:cNvCxnSpPr>
          <p:nvPr/>
        </p:nvCxnSpPr>
        <p:spPr>
          <a:xfrm>
            <a:off x="6361875" y="2519399"/>
            <a:ext cx="498427" cy="516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7637FF6D-DCFF-99C9-B402-0C8B76E428B7}"/>
              </a:ext>
            </a:extLst>
          </p:cNvPr>
          <p:cNvCxnSpPr>
            <a:cxnSpLocks/>
          </p:cNvCxnSpPr>
          <p:nvPr/>
        </p:nvCxnSpPr>
        <p:spPr>
          <a:xfrm>
            <a:off x="8547611" y="2519398"/>
            <a:ext cx="531849" cy="516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3A27AC97-3C60-59C0-17C8-A422197AB1A7}"/>
              </a:ext>
            </a:extLst>
          </p:cNvPr>
          <p:cNvCxnSpPr>
            <a:cxnSpLocks/>
          </p:cNvCxnSpPr>
          <p:nvPr/>
        </p:nvCxnSpPr>
        <p:spPr>
          <a:xfrm flipH="1">
            <a:off x="10048673" y="3080630"/>
            <a:ext cx="9571" cy="51316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5DB85EB0-7FA8-2520-0114-B1774AEA5A7F}"/>
              </a:ext>
            </a:extLst>
          </p:cNvPr>
          <p:cNvCxnSpPr>
            <a:cxnSpLocks/>
          </p:cNvCxnSpPr>
          <p:nvPr/>
        </p:nvCxnSpPr>
        <p:spPr>
          <a:xfrm flipH="1" flipV="1">
            <a:off x="8725198" y="4182248"/>
            <a:ext cx="510888" cy="15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2EC6CDC6-ACF9-FA1A-80E5-2B512C26D9B9}"/>
              </a:ext>
            </a:extLst>
          </p:cNvPr>
          <p:cNvCxnSpPr>
            <a:cxnSpLocks/>
          </p:cNvCxnSpPr>
          <p:nvPr/>
        </p:nvCxnSpPr>
        <p:spPr>
          <a:xfrm flipH="1" flipV="1">
            <a:off x="6653092" y="4202301"/>
            <a:ext cx="510888" cy="15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E8A08117-F28B-32F4-4366-840CF815E22E}"/>
              </a:ext>
            </a:extLst>
          </p:cNvPr>
          <p:cNvCxnSpPr>
            <a:cxnSpLocks/>
          </p:cNvCxnSpPr>
          <p:nvPr/>
        </p:nvCxnSpPr>
        <p:spPr>
          <a:xfrm flipH="1">
            <a:off x="4433219" y="4190450"/>
            <a:ext cx="577577" cy="109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Rounded Corners 5">
            <a:extLst>
              <a:ext uri="{FF2B5EF4-FFF2-40B4-BE49-F238E27FC236}">
                <a16:creationId xmlns:a16="http://schemas.microsoft.com/office/drawing/2014/main" id="{BF044D9C-64C8-479B-71DB-0F488BD311DE}"/>
              </a:ext>
            </a:extLst>
          </p:cNvPr>
          <p:cNvSpPr/>
          <p:nvPr/>
        </p:nvSpPr>
        <p:spPr>
          <a:xfrm>
            <a:off x="6523025" y="5400586"/>
            <a:ext cx="1634289" cy="99260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42" name="TextBox 41">
            <a:extLst>
              <a:ext uri="{FF2B5EF4-FFF2-40B4-BE49-F238E27FC236}">
                <a16:creationId xmlns:a16="http://schemas.microsoft.com/office/drawing/2014/main" id="{4BAFECFC-5534-B7BD-F46D-419EDC752132}"/>
              </a:ext>
            </a:extLst>
          </p:cNvPr>
          <p:cNvSpPr txBox="1"/>
          <p:nvPr/>
        </p:nvSpPr>
        <p:spPr>
          <a:xfrm>
            <a:off x="6686790" y="5574375"/>
            <a:ext cx="13101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Threshold limit</a:t>
            </a:r>
          </a:p>
        </p:txBody>
      </p:sp>
      <p:sp>
        <p:nvSpPr>
          <p:cNvPr id="43" name="Rectangle: Rounded Corners 5">
            <a:extLst>
              <a:ext uri="{FF2B5EF4-FFF2-40B4-BE49-F238E27FC236}">
                <a16:creationId xmlns:a16="http://schemas.microsoft.com/office/drawing/2014/main" id="{834E7333-94E1-C723-6D4D-AB4A4B695DC1}"/>
              </a:ext>
            </a:extLst>
          </p:cNvPr>
          <p:cNvSpPr/>
          <p:nvPr/>
        </p:nvSpPr>
        <p:spPr>
          <a:xfrm>
            <a:off x="2797216" y="3771168"/>
            <a:ext cx="1634289" cy="992605"/>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44" name="TextBox 43">
            <a:extLst>
              <a:ext uri="{FF2B5EF4-FFF2-40B4-BE49-F238E27FC236}">
                <a16:creationId xmlns:a16="http://schemas.microsoft.com/office/drawing/2014/main" id="{78580255-BB63-916F-9B8E-950016E68F58}"/>
              </a:ext>
            </a:extLst>
          </p:cNvPr>
          <p:cNvSpPr txBox="1"/>
          <p:nvPr/>
        </p:nvSpPr>
        <p:spPr>
          <a:xfrm>
            <a:off x="2819397" y="4035194"/>
            <a:ext cx="163483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ptos"/>
              </a:rPr>
              <a:t>Interpolation</a:t>
            </a:r>
            <a:endParaRPr lang="en-US" b="1"/>
          </a:p>
          <a:p>
            <a:pPr algn="ctr"/>
            <a:endParaRPr lang="en-US" b="1"/>
          </a:p>
        </p:txBody>
      </p:sp>
      <p:sp>
        <p:nvSpPr>
          <p:cNvPr id="45" name="Rectangle: Rounded Corners 5">
            <a:extLst>
              <a:ext uri="{FF2B5EF4-FFF2-40B4-BE49-F238E27FC236}">
                <a16:creationId xmlns:a16="http://schemas.microsoft.com/office/drawing/2014/main" id="{9A0907AA-0840-0576-4ED6-50D3DC50819C}"/>
              </a:ext>
            </a:extLst>
          </p:cNvPr>
          <p:cNvSpPr/>
          <p:nvPr/>
        </p:nvSpPr>
        <p:spPr>
          <a:xfrm>
            <a:off x="872166" y="4325957"/>
            <a:ext cx="1366922" cy="838870"/>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46" name="Rectangle: Rounded Corners 5">
            <a:extLst>
              <a:ext uri="{FF2B5EF4-FFF2-40B4-BE49-F238E27FC236}">
                <a16:creationId xmlns:a16="http://schemas.microsoft.com/office/drawing/2014/main" id="{0741D942-3A34-56FD-6880-5511D5EA3CF6}"/>
              </a:ext>
            </a:extLst>
          </p:cNvPr>
          <p:cNvSpPr/>
          <p:nvPr/>
        </p:nvSpPr>
        <p:spPr>
          <a:xfrm>
            <a:off x="878849" y="3363432"/>
            <a:ext cx="1366922" cy="838870"/>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47" name="TextBox 46">
            <a:extLst>
              <a:ext uri="{FF2B5EF4-FFF2-40B4-BE49-F238E27FC236}">
                <a16:creationId xmlns:a16="http://schemas.microsoft.com/office/drawing/2014/main" id="{D1775D5A-21FA-9404-5AF2-596DEB497502}"/>
              </a:ext>
            </a:extLst>
          </p:cNvPr>
          <p:cNvSpPr txBox="1"/>
          <p:nvPr/>
        </p:nvSpPr>
        <p:spPr>
          <a:xfrm>
            <a:off x="1162930" y="4589986"/>
            <a:ext cx="107281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t>Kriging</a:t>
            </a:r>
            <a:endParaRPr lang="en-US" sz="1400" b="1" dirty="0"/>
          </a:p>
        </p:txBody>
      </p:sp>
      <p:sp>
        <p:nvSpPr>
          <p:cNvPr id="48" name="TextBox 47">
            <a:extLst>
              <a:ext uri="{FF2B5EF4-FFF2-40B4-BE49-F238E27FC236}">
                <a16:creationId xmlns:a16="http://schemas.microsoft.com/office/drawing/2014/main" id="{BA5E16A0-C63A-940B-FD28-1DF334AEE414}"/>
              </a:ext>
            </a:extLst>
          </p:cNvPr>
          <p:cNvSpPr txBox="1"/>
          <p:nvPr/>
        </p:nvSpPr>
        <p:spPr>
          <a:xfrm>
            <a:off x="1263194" y="3627458"/>
            <a:ext cx="63500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Aptos"/>
              </a:rPr>
              <a:t>IDW</a:t>
            </a:r>
            <a:endParaRPr lang="en-US" sz="1400" b="1"/>
          </a:p>
          <a:p>
            <a:pPr algn="ctr"/>
            <a:endParaRPr lang="en-US" b="1"/>
          </a:p>
        </p:txBody>
      </p:sp>
      <p:sp>
        <p:nvSpPr>
          <p:cNvPr id="49" name="Rectangle: Rounded Corners 5">
            <a:extLst>
              <a:ext uri="{FF2B5EF4-FFF2-40B4-BE49-F238E27FC236}">
                <a16:creationId xmlns:a16="http://schemas.microsoft.com/office/drawing/2014/main" id="{6BBD84D0-6EDF-B71C-3A5F-9B5D039424B6}"/>
              </a:ext>
            </a:extLst>
          </p:cNvPr>
          <p:cNvSpPr/>
          <p:nvPr/>
        </p:nvSpPr>
        <p:spPr>
          <a:xfrm>
            <a:off x="2605977" y="5461979"/>
            <a:ext cx="1366922" cy="838870"/>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0" name="TextBox 49">
            <a:extLst>
              <a:ext uri="{FF2B5EF4-FFF2-40B4-BE49-F238E27FC236}">
                <a16:creationId xmlns:a16="http://schemas.microsoft.com/office/drawing/2014/main" id="{F9774DA2-FE87-4BDB-5255-FC47B4E2D32E}"/>
              </a:ext>
            </a:extLst>
          </p:cNvPr>
          <p:cNvSpPr txBox="1"/>
          <p:nvPr/>
        </p:nvSpPr>
        <p:spPr>
          <a:xfrm>
            <a:off x="2602639" y="5519041"/>
            <a:ext cx="1366922"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t>Empirical </a:t>
            </a:r>
            <a:r>
              <a:rPr lang="en-US" sz="1400" b="1"/>
              <a:t>Bayesian</a:t>
            </a:r>
            <a:endParaRPr lang="en-US" b="1"/>
          </a:p>
          <a:p>
            <a:pPr algn="ctr"/>
            <a:r>
              <a:rPr lang="en-US" sz="1400" b="1"/>
              <a:t>Kriging</a:t>
            </a:r>
            <a:endParaRPr lang="en-US" sz="1400" b="1" dirty="0"/>
          </a:p>
        </p:txBody>
      </p:sp>
      <p:sp>
        <p:nvSpPr>
          <p:cNvPr id="51" name="Rectangle: Rounded Corners 5">
            <a:extLst>
              <a:ext uri="{FF2B5EF4-FFF2-40B4-BE49-F238E27FC236}">
                <a16:creationId xmlns:a16="http://schemas.microsoft.com/office/drawing/2014/main" id="{516871FF-AA6F-FE35-C511-AB49F3B1FE8D}"/>
              </a:ext>
            </a:extLst>
          </p:cNvPr>
          <p:cNvSpPr/>
          <p:nvPr/>
        </p:nvSpPr>
        <p:spPr>
          <a:xfrm>
            <a:off x="874765" y="5482033"/>
            <a:ext cx="1373605" cy="798763"/>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2" name="TextBox 51">
            <a:extLst>
              <a:ext uri="{FF2B5EF4-FFF2-40B4-BE49-F238E27FC236}">
                <a16:creationId xmlns:a16="http://schemas.microsoft.com/office/drawing/2014/main" id="{7BA8A3E1-867D-7C99-DC44-F4AFF2039390}"/>
              </a:ext>
            </a:extLst>
          </p:cNvPr>
          <p:cNvSpPr txBox="1"/>
          <p:nvPr/>
        </p:nvSpPr>
        <p:spPr>
          <a:xfrm>
            <a:off x="985056" y="5485374"/>
            <a:ext cx="1149686"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latin typeface="Aptos"/>
              </a:rPr>
              <a:t>Standard errors </a:t>
            </a:r>
            <a:r>
              <a:rPr lang="en-US" sz="1600" b="1">
                <a:latin typeface="Aptos"/>
              </a:rPr>
              <a:t>prediction</a:t>
            </a:r>
            <a:endParaRPr lang="en-US" sz="1600" b="1"/>
          </a:p>
          <a:p>
            <a:pPr algn="ctr"/>
            <a:endParaRPr lang="en-US" b="1"/>
          </a:p>
        </p:txBody>
      </p:sp>
      <p:cxnSp>
        <p:nvCxnSpPr>
          <p:cNvPr id="54" name="Straight Arrow Connector 53">
            <a:extLst>
              <a:ext uri="{FF2B5EF4-FFF2-40B4-BE49-F238E27FC236}">
                <a16:creationId xmlns:a16="http://schemas.microsoft.com/office/drawing/2014/main" id="{0C09DC0D-3442-E21F-BFE9-BD88B6325D91}"/>
              </a:ext>
            </a:extLst>
          </p:cNvPr>
          <p:cNvCxnSpPr>
            <a:cxnSpLocks/>
          </p:cNvCxnSpPr>
          <p:nvPr/>
        </p:nvCxnSpPr>
        <p:spPr>
          <a:xfrm>
            <a:off x="2236237" y="5881505"/>
            <a:ext cx="384797" cy="1184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BDEC15F1-1391-2EE0-E7A1-BD7C28AF8574}"/>
              </a:ext>
            </a:extLst>
          </p:cNvPr>
          <p:cNvCxnSpPr>
            <a:cxnSpLocks/>
          </p:cNvCxnSpPr>
          <p:nvPr/>
        </p:nvCxnSpPr>
        <p:spPr>
          <a:xfrm>
            <a:off x="1489800" y="5179409"/>
            <a:ext cx="3797" cy="29258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E8250B87-70BC-9E07-CC17-8A976A6CB357}"/>
              </a:ext>
            </a:extLst>
          </p:cNvPr>
          <p:cNvCxnSpPr>
            <a:cxnSpLocks/>
          </p:cNvCxnSpPr>
          <p:nvPr/>
        </p:nvCxnSpPr>
        <p:spPr>
          <a:xfrm flipH="1" flipV="1">
            <a:off x="2270136" y="3812473"/>
            <a:ext cx="513594" cy="7626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33E5B1FA-0534-01ED-0BF2-C29953F5A59D}"/>
              </a:ext>
            </a:extLst>
          </p:cNvPr>
          <p:cNvCxnSpPr>
            <a:cxnSpLocks/>
          </p:cNvCxnSpPr>
          <p:nvPr/>
        </p:nvCxnSpPr>
        <p:spPr>
          <a:xfrm flipH="1">
            <a:off x="2251920" y="4527824"/>
            <a:ext cx="519410" cy="13895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044D70E4-2E9C-E5A3-F513-55648446FC68}"/>
              </a:ext>
            </a:extLst>
          </p:cNvPr>
          <p:cNvCxnSpPr>
            <a:cxnSpLocks/>
          </p:cNvCxnSpPr>
          <p:nvPr/>
        </p:nvCxnSpPr>
        <p:spPr>
          <a:xfrm>
            <a:off x="6121855" y="5881504"/>
            <a:ext cx="384797" cy="1184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47090EA8-005D-37B0-F1D2-F44170AF755B}"/>
              </a:ext>
            </a:extLst>
          </p:cNvPr>
          <p:cNvCxnSpPr>
            <a:cxnSpLocks/>
          </p:cNvCxnSpPr>
          <p:nvPr/>
        </p:nvCxnSpPr>
        <p:spPr>
          <a:xfrm>
            <a:off x="4010358" y="5922222"/>
            <a:ext cx="384797" cy="1184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B838C0D-AA2F-1278-4DBD-EF22F0FCD981}"/>
              </a:ext>
            </a:extLst>
          </p:cNvPr>
          <p:cNvCxnSpPr>
            <a:cxnSpLocks/>
          </p:cNvCxnSpPr>
          <p:nvPr/>
        </p:nvCxnSpPr>
        <p:spPr>
          <a:xfrm>
            <a:off x="4443607" y="2060996"/>
            <a:ext cx="285913" cy="11073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41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028F4-0FC1-8DC3-4EF2-D283F4659F32}"/>
              </a:ext>
            </a:extLst>
          </p:cNvPr>
          <p:cNvSpPr>
            <a:spLocks noGrp="1"/>
          </p:cNvSpPr>
          <p:nvPr>
            <p:ph type="title"/>
          </p:nvPr>
        </p:nvSpPr>
        <p:spPr/>
        <p:txBody>
          <a:bodyPr/>
          <a:lstStyle/>
          <a:p>
            <a:r>
              <a:rPr lang="en-US" b="1"/>
              <a:t>METHODS</a:t>
            </a:r>
            <a:endParaRPr lang="en-US" b="1" dirty="0"/>
          </a:p>
        </p:txBody>
      </p:sp>
      <p:pic>
        <p:nvPicPr>
          <p:cNvPr id="4" name="Content Placeholder 3" descr="A blue and black grid&#10;&#10;AI-generated content may be incorrect.">
            <a:extLst>
              <a:ext uri="{FF2B5EF4-FFF2-40B4-BE49-F238E27FC236}">
                <a16:creationId xmlns:a16="http://schemas.microsoft.com/office/drawing/2014/main" id="{78696732-18F8-795F-284D-B5A830C24AA8}"/>
              </a:ext>
            </a:extLst>
          </p:cNvPr>
          <p:cNvPicPr>
            <a:picLocks noGrp="1" noChangeAspect="1"/>
          </p:cNvPicPr>
          <p:nvPr>
            <p:ph idx="1"/>
          </p:nvPr>
        </p:nvPicPr>
        <p:blipFill>
          <a:blip r:embed="rId3"/>
          <a:stretch>
            <a:fillRect/>
          </a:stretch>
        </p:blipFill>
        <p:spPr>
          <a:xfrm>
            <a:off x="6704798" y="646103"/>
            <a:ext cx="3606556" cy="5093471"/>
          </a:xfrm>
          <a:prstGeom prst="rect">
            <a:avLst/>
          </a:prstGeom>
        </p:spPr>
      </p:pic>
      <p:pic>
        <p:nvPicPr>
          <p:cNvPr id="3" name="Picture 2" descr="A graph of a distribution of fe&#10;&#10;AI-generated content may be incorrect.">
            <a:extLst>
              <a:ext uri="{FF2B5EF4-FFF2-40B4-BE49-F238E27FC236}">
                <a16:creationId xmlns:a16="http://schemas.microsoft.com/office/drawing/2014/main" id="{4C596E82-FA26-459B-E4B0-6305B67F55B0}"/>
              </a:ext>
            </a:extLst>
          </p:cNvPr>
          <p:cNvPicPr>
            <a:picLocks noChangeAspect="1"/>
          </p:cNvPicPr>
          <p:nvPr/>
        </p:nvPicPr>
        <p:blipFill>
          <a:blip r:embed="rId4"/>
          <a:stretch>
            <a:fillRect/>
          </a:stretch>
        </p:blipFill>
        <p:spPr>
          <a:xfrm>
            <a:off x="638558" y="1811286"/>
            <a:ext cx="4550945" cy="3236662"/>
          </a:xfrm>
          <a:prstGeom prst="rect">
            <a:avLst/>
          </a:prstGeom>
        </p:spPr>
      </p:pic>
      <p:sp>
        <p:nvSpPr>
          <p:cNvPr id="7" name="TextBox 6">
            <a:extLst>
              <a:ext uri="{FF2B5EF4-FFF2-40B4-BE49-F238E27FC236}">
                <a16:creationId xmlns:a16="http://schemas.microsoft.com/office/drawing/2014/main" id="{95FE9B84-E74A-6043-A744-D6F2EC14381F}"/>
              </a:ext>
            </a:extLst>
          </p:cNvPr>
          <p:cNvSpPr txBox="1"/>
          <p:nvPr/>
        </p:nvSpPr>
        <p:spPr>
          <a:xfrm>
            <a:off x="501818" y="5234421"/>
            <a:ext cx="452756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Developed Histogram of Iron concentrations (mg/L) with log transformation to determine spatial trends</a:t>
            </a:r>
          </a:p>
        </p:txBody>
      </p:sp>
      <p:sp>
        <p:nvSpPr>
          <p:cNvPr id="8" name="TextBox 7">
            <a:extLst>
              <a:ext uri="{FF2B5EF4-FFF2-40B4-BE49-F238E27FC236}">
                <a16:creationId xmlns:a16="http://schemas.microsoft.com/office/drawing/2014/main" id="{4B3B034A-B414-200A-B9B5-40C0E22453AC}"/>
              </a:ext>
            </a:extLst>
          </p:cNvPr>
          <p:cNvSpPr txBox="1"/>
          <p:nvPr/>
        </p:nvSpPr>
        <p:spPr>
          <a:xfrm>
            <a:off x="6724081" y="5892737"/>
            <a:ext cx="399944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Thiessen polygon developed in order to identify the areas of study and as a basis for interpolation</a:t>
            </a:r>
          </a:p>
        </p:txBody>
      </p:sp>
    </p:spTree>
    <p:extLst>
      <p:ext uri="{BB962C8B-B14F-4D97-AF65-F5344CB8AC3E}">
        <p14:creationId xmlns:p14="http://schemas.microsoft.com/office/powerpoint/2010/main" val="2809595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D0395-AD6C-F563-9793-23294C13FD9D}"/>
              </a:ext>
            </a:extLst>
          </p:cNvPr>
          <p:cNvSpPr>
            <a:spLocks noGrp="1"/>
          </p:cNvSpPr>
          <p:nvPr>
            <p:ph type="title"/>
          </p:nvPr>
        </p:nvSpPr>
        <p:spPr/>
        <p:txBody>
          <a:bodyPr/>
          <a:lstStyle/>
          <a:p>
            <a:r>
              <a:rPr lang="en-US" b="1"/>
              <a:t>METHODS 2</a:t>
            </a:r>
          </a:p>
        </p:txBody>
      </p:sp>
      <p:pic>
        <p:nvPicPr>
          <p:cNvPr id="7" name="Content Placeholder 6">
            <a:extLst>
              <a:ext uri="{FF2B5EF4-FFF2-40B4-BE49-F238E27FC236}">
                <a16:creationId xmlns:a16="http://schemas.microsoft.com/office/drawing/2014/main" id="{5BE6804D-749F-14FD-9EC9-F7D7D45AC7B7}"/>
              </a:ext>
            </a:extLst>
          </p:cNvPr>
          <p:cNvPicPr>
            <a:picLocks noChangeAspect="1"/>
          </p:cNvPicPr>
          <p:nvPr/>
        </p:nvPicPr>
        <p:blipFill>
          <a:blip r:embed="rId3"/>
          <a:stretch>
            <a:fillRect/>
          </a:stretch>
        </p:blipFill>
        <p:spPr>
          <a:xfrm>
            <a:off x="4463099" y="1020766"/>
            <a:ext cx="3605038" cy="5096607"/>
          </a:xfrm>
          <a:prstGeom prst="rect">
            <a:avLst/>
          </a:prstGeom>
        </p:spPr>
      </p:pic>
      <p:sp>
        <p:nvSpPr>
          <p:cNvPr id="3" name="TextBox 2">
            <a:extLst>
              <a:ext uri="{FF2B5EF4-FFF2-40B4-BE49-F238E27FC236}">
                <a16:creationId xmlns:a16="http://schemas.microsoft.com/office/drawing/2014/main" id="{29F68083-D05D-209B-5778-4181593A3002}"/>
              </a:ext>
            </a:extLst>
          </p:cNvPr>
          <p:cNvSpPr txBox="1"/>
          <p:nvPr/>
        </p:nvSpPr>
        <p:spPr>
          <a:xfrm>
            <a:off x="725147" y="1911752"/>
            <a:ext cx="3471917"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t>Interpolation </a:t>
            </a:r>
            <a:endParaRPr lang="en-US" sz="2400" dirty="0"/>
          </a:p>
          <a:p>
            <a:r>
              <a:rPr lang="en-US" sz="2400"/>
              <a:t>(both IDW and Kriging)</a:t>
            </a:r>
            <a:endParaRPr lang="en-US" sz="2400" dirty="0"/>
          </a:p>
          <a:p>
            <a:pPr marL="285750" indent="-285750">
              <a:buFont typeface="Arial"/>
              <a:buChar char="•"/>
            </a:pPr>
            <a:endParaRPr lang="en-US" sz="2400" dirty="0"/>
          </a:p>
          <a:p>
            <a:pPr marL="285750" indent="-285750">
              <a:buFont typeface="Arial"/>
              <a:buChar char="•"/>
            </a:pPr>
            <a:r>
              <a:rPr lang="en-US" sz="2400"/>
              <a:t>Comparison of interpolation patterns</a:t>
            </a:r>
            <a:endParaRPr lang="en-US" sz="2400" dirty="0"/>
          </a:p>
          <a:p>
            <a:pPr marL="285750" indent="-285750">
              <a:buFont typeface="Arial"/>
              <a:buChar char="•"/>
            </a:pPr>
            <a:endParaRPr lang="en-US" sz="2400" dirty="0"/>
          </a:p>
          <a:p>
            <a:pPr marL="285750" indent="-285750">
              <a:buFont typeface="Arial"/>
              <a:buChar char="•"/>
            </a:pPr>
            <a:r>
              <a:rPr lang="en-US" sz="2400"/>
              <a:t>IDW is knowledge driven</a:t>
            </a:r>
            <a:endParaRPr lang="en-US" sz="2400" dirty="0"/>
          </a:p>
          <a:p>
            <a:pPr marL="285750" indent="-285750">
              <a:buFont typeface="Arial"/>
              <a:buChar char="•"/>
            </a:pPr>
            <a:endParaRPr lang="en-US" sz="2400" dirty="0"/>
          </a:p>
          <a:p>
            <a:pPr marL="285750" indent="-285750">
              <a:buFont typeface="Arial"/>
              <a:buChar char="•"/>
            </a:pPr>
            <a:r>
              <a:rPr lang="en-US" sz="2400"/>
              <a:t>Kriging is data driven</a:t>
            </a:r>
            <a:endParaRPr lang="en-US" sz="2400" dirty="0"/>
          </a:p>
          <a:p>
            <a:endParaRPr lang="en-US" dirty="0"/>
          </a:p>
        </p:txBody>
      </p:sp>
      <p:pic>
        <p:nvPicPr>
          <p:cNvPr id="6" name="Picture 5" descr="A map of a blue sky with yellow and green colors&#10;&#10;AI-generated content may be incorrect.">
            <a:extLst>
              <a:ext uri="{FF2B5EF4-FFF2-40B4-BE49-F238E27FC236}">
                <a16:creationId xmlns:a16="http://schemas.microsoft.com/office/drawing/2014/main" id="{6F8E695A-023A-1768-B183-77E58ADA7676}"/>
              </a:ext>
            </a:extLst>
          </p:cNvPr>
          <p:cNvPicPr>
            <a:picLocks noChangeAspect="1"/>
          </p:cNvPicPr>
          <p:nvPr/>
        </p:nvPicPr>
        <p:blipFill>
          <a:blip r:embed="rId4"/>
          <a:stretch>
            <a:fillRect/>
          </a:stretch>
        </p:blipFill>
        <p:spPr>
          <a:xfrm>
            <a:off x="8071181" y="1025181"/>
            <a:ext cx="3608904" cy="5095302"/>
          </a:xfrm>
          <a:prstGeom prst="rect">
            <a:avLst/>
          </a:prstGeom>
        </p:spPr>
      </p:pic>
    </p:spTree>
    <p:extLst>
      <p:ext uri="{BB962C8B-B14F-4D97-AF65-F5344CB8AC3E}">
        <p14:creationId xmlns:p14="http://schemas.microsoft.com/office/powerpoint/2010/main" val="1621041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1AB68-8608-B433-8CC0-7D35964F9E21}"/>
              </a:ext>
            </a:extLst>
          </p:cNvPr>
          <p:cNvSpPr>
            <a:spLocks noGrp="1"/>
          </p:cNvSpPr>
          <p:nvPr>
            <p:ph type="title"/>
          </p:nvPr>
        </p:nvSpPr>
        <p:spPr/>
        <p:txBody>
          <a:bodyPr/>
          <a:lstStyle/>
          <a:p>
            <a:r>
              <a:rPr lang="en-US" b="1"/>
              <a:t>METHODS 3</a:t>
            </a:r>
          </a:p>
        </p:txBody>
      </p:sp>
      <p:pic>
        <p:nvPicPr>
          <p:cNvPr id="5" name="Picture 4" descr="A map of the north&#10;&#10;AI-generated content may be incorrect.">
            <a:extLst>
              <a:ext uri="{FF2B5EF4-FFF2-40B4-BE49-F238E27FC236}">
                <a16:creationId xmlns:a16="http://schemas.microsoft.com/office/drawing/2014/main" id="{B2C5230E-4639-3170-40E4-D75BE02A9E7F}"/>
              </a:ext>
            </a:extLst>
          </p:cNvPr>
          <p:cNvPicPr>
            <a:picLocks noChangeAspect="1"/>
          </p:cNvPicPr>
          <p:nvPr/>
        </p:nvPicPr>
        <p:blipFill>
          <a:blip r:embed="rId3"/>
          <a:stretch>
            <a:fillRect/>
          </a:stretch>
        </p:blipFill>
        <p:spPr>
          <a:xfrm>
            <a:off x="4779267" y="1341345"/>
            <a:ext cx="3431378" cy="4866747"/>
          </a:xfrm>
          <a:prstGeom prst="rect">
            <a:avLst/>
          </a:prstGeom>
        </p:spPr>
      </p:pic>
      <p:pic>
        <p:nvPicPr>
          <p:cNvPr id="7" name="Picture 6" descr="A map of the area&#10;&#10;AI-generated content may be incorrect.">
            <a:extLst>
              <a:ext uri="{FF2B5EF4-FFF2-40B4-BE49-F238E27FC236}">
                <a16:creationId xmlns:a16="http://schemas.microsoft.com/office/drawing/2014/main" id="{98840156-0E31-00C5-691B-CCA4743F8EC5}"/>
              </a:ext>
            </a:extLst>
          </p:cNvPr>
          <p:cNvPicPr>
            <a:picLocks noChangeAspect="1"/>
          </p:cNvPicPr>
          <p:nvPr/>
        </p:nvPicPr>
        <p:blipFill>
          <a:blip r:embed="rId4"/>
          <a:stretch>
            <a:fillRect/>
          </a:stretch>
        </p:blipFill>
        <p:spPr>
          <a:xfrm>
            <a:off x="8340132" y="1336491"/>
            <a:ext cx="3511973" cy="4940661"/>
          </a:xfrm>
          <a:prstGeom prst="rect">
            <a:avLst/>
          </a:prstGeom>
        </p:spPr>
      </p:pic>
      <p:sp>
        <p:nvSpPr>
          <p:cNvPr id="3" name="TextBox 2">
            <a:extLst>
              <a:ext uri="{FF2B5EF4-FFF2-40B4-BE49-F238E27FC236}">
                <a16:creationId xmlns:a16="http://schemas.microsoft.com/office/drawing/2014/main" id="{721CEA7A-AA2A-4704-0E23-580B2A647152}"/>
              </a:ext>
            </a:extLst>
          </p:cNvPr>
          <p:cNvSpPr txBox="1"/>
          <p:nvPr/>
        </p:nvSpPr>
        <p:spPr>
          <a:xfrm>
            <a:off x="758108" y="1897203"/>
            <a:ext cx="4021271" cy="35086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t>Standard Errors prediction</a:t>
            </a:r>
            <a:endParaRPr lang="en-US" sz="2400" dirty="0"/>
          </a:p>
          <a:p>
            <a:pPr marL="285750" indent="-285750">
              <a:buFont typeface="Arial"/>
              <a:buChar char="•"/>
            </a:pPr>
            <a:endParaRPr lang="en-US" sz="2400" dirty="0"/>
          </a:p>
          <a:p>
            <a:pPr marL="285750" indent="-285750">
              <a:buFont typeface="Arial"/>
              <a:buChar char="•"/>
            </a:pPr>
            <a:r>
              <a:rPr lang="en-US" sz="2400"/>
              <a:t>Done by using Empirical Bayesian Kriging and masking</a:t>
            </a:r>
            <a:endParaRPr lang="en-US" sz="2400" dirty="0"/>
          </a:p>
          <a:p>
            <a:pPr marL="285750" indent="-285750">
              <a:buFont typeface="Arial"/>
              <a:buChar char="•"/>
            </a:pPr>
            <a:endParaRPr lang="en-US" sz="2400" dirty="0"/>
          </a:p>
          <a:p>
            <a:pPr marL="285750" indent="-285750">
              <a:buFont typeface="Arial"/>
              <a:buChar char="•"/>
            </a:pPr>
            <a:r>
              <a:rPr lang="en-US" sz="2400"/>
              <a:t>Accounting for uncertainty </a:t>
            </a:r>
            <a:endParaRPr lang="en-US" sz="2400"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p:txBody>
      </p:sp>
    </p:spTree>
    <p:extLst>
      <p:ext uri="{BB962C8B-B14F-4D97-AF65-F5344CB8AC3E}">
        <p14:creationId xmlns:p14="http://schemas.microsoft.com/office/powerpoint/2010/main" val="2575602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EB951-BF6E-D60B-598A-240E8B3C5B8E}"/>
              </a:ext>
            </a:extLst>
          </p:cNvPr>
          <p:cNvSpPr>
            <a:spLocks noGrp="1"/>
          </p:cNvSpPr>
          <p:nvPr>
            <p:ph type="title"/>
          </p:nvPr>
        </p:nvSpPr>
        <p:spPr/>
        <p:txBody>
          <a:bodyPr/>
          <a:lstStyle/>
          <a:p>
            <a:r>
              <a:rPr lang="en-US" b="1"/>
              <a:t>DISCUSSION</a:t>
            </a:r>
          </a:p>
        </p:txBody>
      </p:sp>
      <p:pic>
        <p:nvPicPr>
          <p:cNvPr id="4" name="Content Placeholder 3" descr="A map of red and grey dots&#10;&#10;AI-generated content may be incorrect.">
            <a:extLst>
              <a:ext uri="{FF2B5EF4-FFF2-40B4-BE49-F238E27FC236}">
                <a16:creationId xmlns:a16="http://schemas.microsoft.com/office/drawing/2014/main" id="{257E5C88-54A1-71E1-7BE7-C3DDBE2931EC}"/>
              </a:ext>
            </a:extLst>
          </p:cNvPr>
          <p:cNvPicPr>
            <a:picLocks noGrp="1" noChangeAspect="1"/>
          </p:cNvPicPr>
          <p:nvPr>
            <p:ph idx="1"/>
          </p:nvPr>
        </p:nvPicPr>
        <p:blipFill>
          <a:blip r:embed="rId3"/>
          <a:stretch>
            <a:fillRect/>
          </a:stretch>
        </p:blipFill>
        <p:spPr>
          <a:xfrm>
            <a:off x="7283450" y="115094"/>
            <a:ext cx="4533900" cy="6445250"/>
          </a:xfrm>
          <a:prstGeom prst="rect">
            <a:avLst/>
          </a:prstGeom>
        </p:spPr>
      </p:pic>
      <p:sp>
        <p:nvSpPr>
          <p:cNvPr id="3" name="TextBox 2">
            <a:extLst>
              <a:ext uri="{FF2B5EF4-FFF2-40B4-BE49-F238E27FC236}">
                <a16:creationId xmlns:a16="http://schemas.microsoft.com/office/drawing/2014/main" id="{E46D9843-EDD7-57E3-728C-18ACD1E26AFD}"/>
              </a:ext>
            </a:extLst>
          </p:cNvPr>
          <p:cNvSpPr txBox="1"/>
          <p:nvPr/>
        </p:nvSpPr>
        <p:spPr>
          <a:xfrm>
            <a:off x="846005" y="1889778"/>
            <a:ext cx="4636548"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800"/>
              <a:t>Raster Calculator</a:t>
            </a:r>
            <a:endParaRPr lang="en-US" sz="2800" dirty="0"/>
          </a:p>
          <a:p>
            <a:pPr marL="285750" indent="-285750">
              <a:buFont typeface="Arial"/>
              <a:buChar char="•"/>
            </a:pPr>
            <a:endParaRPr lang="en-US" sz="2800" dirty="0"/>
          </a:p>
          <a:p>
            <a:pPr marL="285750" indent="-285750">
              <a:buFont typeface="Arial"/>
              <a:buChar char="•"/>
            </a:pPr>
            <a:r>
              <a:rPr lang="en-US" sz="2800"/>
              <a:t>A limit of 0.3 mg/L was applied (Government of Alberta)</a:t>
            </a:r>
            <a:endParaRPr lang="en-US" sz="2800" dirty="0"/>
          </a:p>
          <a:p>
            <a:pPr marL="285750" indent="-285750">
              <a:buFont typeface="Arial"/>
              <a:buChar char="•"/>
            </a:pPr>
            <a:endParaRPr lang="en-US" sz="2800" dirty="0"/>
          </a:p>
          <a:p>
            <a:pPr marL="285750" indent="-285750">
              <a:buFont typeface="Arial"/>
              <a:buChar char="•"/>
            </a:pPr>
            <a:r>
              <a:rPr lang="en-US" sz="2800"/>
              <a:t>The mid - western region of the Wapiti River exceed the </a:t>
            </a:r>
            <a:r>
              <a:rPr lang="en-US" sz="2800" dirty="0"/>
              <a:t>limit </a:t>
            </a:r>
          </a:p>
        </p:txBody>
      </p:sp>
    </p:spTree>
    <p:extLst>
      <p:ext uri="{BB962C8B-B14F-4D97-AF65-F5344CB8AC3E}">
        <p14:creationId xmlns:p14="http://schemas.microsoft.com/office/powerpoint/2010/main" val="163353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404A7-B993-6D49-1348-415BCDC659E6}"/>
              </a:ext>
            </a:extLst>
          </p:cNvPr>
          <p:cNvSpPr>
            <a:spLocks noGrp="1"/>
          </p:cNvSpPr>
          <p:nvPr>
            <p:ph type="title"/>
          </p:nvPr>
        </p:nvSpPr>
        <p:spPr/>
        <p:txBody>
          <a:bodyPr/>
          <a:lstStyle/>
          <a:p>
            <a:r>
              <a:rPr lang="en-US" b="1"/>
              <a:t>CONCLUSION</a:t>
            </a:r>
          </a:p>
        </p:txBody>
      </p:sp>
      <p:graphicFrame>
        <p:nvGraphicFramePr>
          <p:cNvPr id="7" name="Content Placeholder 2">
            <a:extLst>
              <a:ext uri="{FF2B5EF4-FFF2-40B4-BE49-F238E27FC236}">
                <a16:creationId xmlns:a16="http://schemas.microsoft.com/office/drawing/2014/main" id="{2C21CD81-7804-518F-2890-389C87440A19}"/>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3474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3B8B3-ED53-5785-98C7-D045738D9679}"/>
              </a:ext>
            </a:extLst>
          </p:cNvPr>
          <p:cNvSpPr>
            <a:spLocks noGrp="1"/>
          </p:cNvSpPr>
          <p:nvPr>
            <p:ph type="title"/>
          </p:nvPr>
        </p:nvSpPr>
        <p:spPr/>
        <p:txBody>
          <a:bodyPr/>
          <a:lstStyle/>
          <a:p>
            <a:r>
              <a:rPr lang="en-US" b="1"/>
              <a:t>REFERENCES</a:t>
            </a:r>
            <a:endParaRPr lang="en-US" b="1" dirty="0"/>
          </a:p>
        </p:txBody>
      </p:sp>
      <p:sp>
        <p:nvSpPr>
          <p:cNvPr id="3" name="Content Placeholder 2">
            <a:extLst>
              <a:ext uri="{FF2B5EF4-FFF2-40B4-BE49-F238E27FC236}">
                <a16:creationId xmlns:a16="http://schemas.microsoft.com/office/drawing/2014/main" id="{1AEAEEAE-CE67-417F-7541-528822E0FF8D}"/>
              </a:ext>
            </a:extLst>
          </p:cNvPr>
          <p:cNvSpPr>
            <a:spLocks noGrp="1"/>
          </p:cNvSpPr>
          <p:nvPr>
            <p:ph idx="1"/>
          </p:nvPr>
        </p:nvSpPr>
        <p:spPr/>
        <p:txBody>
          <a:bodyPr vert="horz" lIns="91440" tIns="45720" rIns="91440" bIns="45720" rtlCol="0" anchor="t">
            <a:normAutofit/>
          </a:bodyPr>
          <a:lstStyle/>
          <a:p>
            <a:r>
              <a:rPr lang="en-US" sz="1800">
                <a:ea typeface="+mn-lt"/>
                <a:cs typeface="+mn-lt"/>
              </a:rPr>
              <a:t>Alberta Geological Survey. </a:t>
            </a:r>
            <a:r>
              <a:rPr lang="en-US" sz="1800" i="1">
                <a:ea typeface="+mn-lt"/>
                <a:cs typeface="+mn-lt"/>
              </a:rPr>
              <a:t>Distribution of Total Dissolved Solids in the Wapiti / Belly River HSU (DIG 2017-0026)</a:t>
            </a:r>
            <a:r>
              <a:rPr lang="en-US" sz="1800">
                <a:ea typeface="+mn-lt"/>
                <a:cs typeface="+mn-lt"/>
              </a:rPr>
              <a:t>. </a:t>
            </a:r>
            <a:r>
              <a:rPr lang="en-US" sz="1800" dirty="0">
                <a:ea typeface="+mn-lt"/>
                <a:cs typeface="+mn-lt"/>
                <a:hlinkClick r:id="rId2"/>
              </a:rPr>
              <a:t>https://geology-ags-aer.opendata.arcgis.com/datasets/2e91026904a6458685c5b552636741ee_0/explore?location=52.153156,-114.905016,6.75</a:t>
            </a:r>
            <a:endParaRPr lang="en-US" sz="1800" dirty="0"/>
          </a:p>
          <a:p>
            <a:r>
              <a:rPr lang="en-US" sz="1800" dirty="0">
                <a:ea typeface="+mn-lt"/>
                <a:cs typeface="+mn-lt"/>
              </a:rPr>
              <a:t>Alberta Geological Survey</a:t>
            </a:r>
            <a:r>
              <a:rPr lang="en-US" sz="1800" i="1" dirty="0">
                <a:ea typeface="+mn-lt"/>
                <a:cs typeface="+mn-lt"/>
              </a:rPr>
              <a:t>. </a:t>
            </a:r>
            <a:r>
              <a:rPr lang="en-US" sz="1800" i="1">
                <a:ea typeface="+mn-lt"/>
                <a:cs typeface="+mn-lt"/>
              </a:rPr>
              <a:t>Hydrogeological</a:t>
            </a:r>
            <a:r>
              <a:rPr lang="en-US" sz="1800" i="1" dirty="0">
                <a:ea typeface="+mn-lt"/>
                <a:cs typeface="+mn-lt"/>
              </a:rPr>
              <a:t> Regions of Alberta </a:t>
            </a:r>
            <a:r>
              <a:rPr lang="en-US" sz="1800" dirty="0">
                <a:ea typeface="+mn-lt"/>
                <a:cs typeface="+mn-lt"/>
                <a:hlinkClick r:id="rId3"/>
              </a:rPr>
              <a:t>https://geology-ags-aer.opendata.arcgis.com/</a:t>
            </a:r>
            <a:endParaRPr lang="en-US" sz="1800" dirty="0">
              <a:ea typeface="+mn-lt"/>
              <a:cs typeface="+mn-lt"/>
            </a:endParaRPr>
          </a:p>
          <a:p>
            <a:r>
              <a:rPr lang="en-US" sz="1800">
                <a:ea typeface="+mn-lt"/>
                <a:cs typeface="+mn-lt"/>
              </a:rPr>
              <a:t>Environment and Climate Change Canada, Canadian Environmental Sustainability Indicators. (2019, January 30). Water Quality: Wapiti River above Confluence of Smoky River, Alberta. Natural Resources Canada, Open Science and Data Platform. </a:t>
            </a:r>
            <a:r>
              <a:rPr lang="en-US" sz="1800" dirty="0">
                <a:ea typeface="+mn-lt"/>
                <a:cs typeface="+mn-lt"/>
                <a:hlinkClick r:id="rId4"/>
              </a:rPr>
              <a:t>https://osdp-psdo.canada.ca/dp/en/search/metadata/ECCC-CESI-WATER-1-AB07GJ0030</a:t>
            </a:r>
            <a:r>
              <a:rPr lang="en-US" sz="1800" dirty="0">
                <a:ea typeface="+mn-lt"/>
                <a:cs typeface="+mn-lt"/>
              </a:rPr>
              <a:t> </a:t>
            </a:r>
          </a:p>
          <a:p>
            <a:r>
              <a:rPr lang="en-US" sz="1800" i="1">
                <a:ea typeface="+mn-lt"/>
                <a:cs typeface="+mn-lt"/>
              </a:rPr>
              <a:t>Common water quality terms | Alberta.ca</a:t>
            </a:r>
            <a:r>
              <a:rPr lang="en-US" sz="1800">
                <a:ea typeface="+mn-lt"/>
                <a:cs typeface="+mn-lt"/>
              </a:rPr>
              <a:t>. (2025, December 12). </a:t>
            </a:r>
            <a:r>
              <a:rPr lang="en-US" sz="1800" dirty="0">
                <a:ea typeface="+mn-lt"/>
                <a:cs typeface="+mn-lt"/>
                <a:hlinkClick r:id="rId5"/>
              </a:rPr>
              <a:t>https://www.alberta.ca/common-water-quality-terms</a:t>
            </a:r>
            <a:endParaRPr lang="en-US" sz="1800" dirty="0">
              <a:ea typeface="+mn-lt"/>
              <a:cs typeface="+mn-lt"/>
            </a:endParaRPr>
          </a:p>
          <a:p>
            <a:endParaRPr lang="en-US" sz="1800" dirty="0">
              <a:ea typeface="+mn-lt"/>
              <a:cs typeface="+mn-lt"/>
            </a:endParaRPr>
          </a:p>
        </p:txBody>
      </p:sp>
    </p:spTree>
    <p:extLst>
      <p:ext uri="{BB962C8B-B14F-4D97-AF65-F5344CB8AC3E}">
        <p14:creationId xmlns:p14="http://schemas.microsoft.com/office/powerpoint/2010/main" val="1550660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10</Slides>
  <Notes>7</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Iron vulnerability in the Wapiti River region</vt:lpstr>
      <vt:lpstr>INTRODUCTION</vt:lpstr>
      <vt:lpstr>DATA</vt:lpstr>
      <vt:lpstr>GENERAL FLOWCHART</vt:lpstr>
      <vt:lpstr>METHODS</vt:lpstr>
      <vt:lpstr>METHODS 2</vt:lpstr>
      <vt:lpstr>METHODS 3</vt:lpstr>
      <vt:lpstr>DISCUSSION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613</cp:revision>
  <dcterms:created xsi:type="dcterms:W3CDTF">2025-12-17T00:39:00Z</dcterms:created>
  <dcterms:modified xsi:type="dcterms:W3CDTF">2025-12-19T02:16:19Z</dcterms:modified>
</cp:coreProperties>
</file>